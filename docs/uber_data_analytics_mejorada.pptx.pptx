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Intro Rust" charset="1" panose="00000500000000000000"/>
      <p:regular r:id="rId20"/>
    </p:embeddedFont>
    <p:embeddedFont>
      <p:font typeface="Poppins Italics" charset="1" panose="00000500000000000000"/>
      <p:regular r:id="rId21"/>
    </p:embeddedFont>
    <p:embeddedFont>
      <p:font typeface="Poppins" charset="1" panose="00000500000000000000"/>
      <p:regular r:id="rId22"/>
    </p:embeddedFont>
    <p:embeddedFont>
      <p:font typeface="Courier New" charset="1" panose="020703090202050204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7.png" Type="http://schemas.openxmlformats.org/officeDocument/2006/relationships/image"/><Relationship Id="rId6" Target="../media/image13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8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4520" y="5897880"/>
            <a:ext cx="7132320" cy="7132320"/>
            <a:chOff x="0" y="0"/>
            <a:chExt cx="9509760" cy="9509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16335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38960" y="7132320"/>
            <a:ext cx="4663440" cy="4663440"/>
            <a:chOff x="0" y="0"/>
            <a:chExt cx="6217920" cy="6217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1B3F6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636240" y="8229600"/>
            <a:ext cx="2468880" cy="2468880"/>
            <a:chOff x="0" y="0"/>
            <a:chExt cx="3291840" cy="3291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1645920"/>
                  </a:moveTo>
                  <a:cubicBezTo>
                    <a:pt x="0" y="736854"/>
                    <a:pt x="736854" y="0"/>
                    <a:pt x="1645920" y="0"/>
                  </a:cubicBezTo>
                  <a:cubicBezTo>
                    <a:pt x="2554986" y="0"/>
                    <a:pt x="3291840" y="736854"/>
                    <a:pt x="3291840" y="1645920"/>
                  </a:cubicBezTo>
                  <a:cubicBezTo>
                    <a:pt x="3291840" y="2554986"/>
                    <a:pt x="2554986" y="3291840"/>
                    <a:pt x="1645920" y="3291840"/>
                  </a:cubicBezTo>
                  <a:cubicBezTo>
                    <a:pt x="736854" y="3291840"/>
                    <a:pt x="0" y="2554986"/>
                    <a:pt x="0" y="1645920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3497580"/>
            <a:ext cx="9601200" cy="483984"/>
            <a:chOff x="0" y="0"/>
            <a:chExt cx="12801600" cy="6453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00" cy="645312"/>
            </a:xfrm>
            <a:custGeom>
              <a:avLst/>
              <a:gdLst/>
              <a:ahLst/>
              <a:cxnLst/>
              <a:rect r="r" b="b" t="t" l="l"/>
              <a:pathLst>
                <a:path h="645312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5312"/>
                  </a:lnTo>
                  <a:lnTo>
                    <a:pt x="0" y="645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946" r="0" b="-3361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2801600" cy="664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45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GOOGLE CLOUD · DATA ENGINEERING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9848" y="3977640"/>
            <a:ext cx="13030200" cy="1508760"/>
            <a:chOff x="0" y="0"/>
            <a:chExt cx="17373600" cy="2011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3736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737360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Uber Data Analytics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5280660"/>
            <a:ext cx="11658600" cy="685800"/>
            <a:chOff x="0" y="0"/>
            <a:chExt cx="155448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54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544800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CADCFC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Pipeline moderno de datos en Google Cloud Platform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6309360"/>
            <a:ext cx="10972800" cy="548640"/>
            <a:chOff x="0" y="0"/>
            <a:chExt cx="146304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Poppins"/>
                  <a:ea typeface="Poppins"/>
                  <a:cs typeface="Poppins"/>
                  <a:sym typeface="Poppins"/>
                </a:rPr>
                <a:t>Estado del despliegue:  </a:t>
              </a:r>
              <a:r>
                <a:rPr lang="en-US" sz="1950" b="true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Desplegado en GCP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029016" y="5554577"/>
            <a:ext cx="6142064" cy="3155485"/>
          </a:xfrm>
          <a:custGeom>
            <a:avLst/>
            <a:gdLst/>
            <a:ahLst/>
            <a:cxnLst/>
            <a:rect r="r" b="b" t="t" l="l"/>
            <a:pathLst>
              <a:path h="3155485" w="6142064">
                <a:moveTo>
                  <a:pt x="0" y="0"/>
                </a:moveTo>
                <a:lnTo>
                  <a:pt x="6142064" y="0"/>
                </a:lnTo>
                <a:lnTo>
                  <a:pt x="6142064" y="3155486"/>
                </a:lnTo>
                <a:lnTo>
                  <a:pt x="0" y="3155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419862"/>
            <a:ext cx="15087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 DE NEGOCIO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5963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B1F3A"/>
                </a:solidFill>
                <a:latin typeface="Intro Rust"/>
                <a:ea typeface="Intro Rust"/>
                <a:cs typeface="Intro Rust"/>
                <a:sym typeface="Intro Rust"/>
              </a:rPr>
              <a:t>¿Qué problema resolvemos?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2960" y="2059305"/>
            <a:ext cx="960120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2250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Cada día se generan </a:t>
            </a:r>
            <a:r>
              <a:rPr lang="en-US" sz="225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millones de viajes de taxi</a:t>
            </a:r>
            <a:r>
              <a:rPr lang="en-US" sz="2250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 en Nueva York, pero los datos llegan como </a:t>
            </a:r>
            <a:r>
              <a:rPr lang="en-US" sz="225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archivos CSV crudos</a:t>
            </a:r>
            <a:r>
              <a:rPr lang="en-US" sz="2250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: sin modelar, dispersos y difíciles de consultar. Así no sirven para tomar decisiones de negocio.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4526280"/>
            <a:ext cx="9601200" cy="4800600"/>
            <a:chOff x="0" y="0"/>
            <a:chExt cx="12801600" cy="640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016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12801600">
                  <a:moveTo>
                    <a:pt x="0" y="1066800"/>
                  </a:moveTo>
                  <a:cubicBezTo>
                    <a:pt x="0" y="477647"/>
                    <a:pt x="477647" y="0"/>
                    <a:pt x="1066800" y="0"/>
                  </a:cubicBezTo>
                  <a:lnTo>
                    <a:pt x="11734800" y="0"/>
                  </a:lnTo>
                  <a:cubicBezTo>
                    <a:pt x="12323953" y="0"/>
                    <a:pt x="12801600" y="477647"/>
                    <a:pt x="12801600" y="1066800"/>
                  </a:cubicBezTo>
                  <a:lnTo>
                    <a:pt x="12801600" y="5334000"/>
                  </a:lnTo>
                  <a:cubicBezTo>
                    <a:pt x="12801600" y="5923153"/>
                    <a:pt x="12323953" y="6400800"/>
                    <a:pt x="11734800" y="6400800"/>
                  </a:cubicBezTo>
                  <a:lnTo>
                    <a:pt x="1066800" y="6400800"/>
                  </a:lnTo>
                  <a:cubicBezTo>
                    <a:pt x="477647" y="6400800"/>
                    <a:pt x="0" y="5923153"/>
                    <a:pt x="0" y="533400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03020" y="4859655"/>
            <a:ext cx="86410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B1F3A"/>
                </a:solidFill>
                <a:latin typeface="Intro Rust"/>
                <a:ea typeface="Intro Rust"/>
                <a:cs typeface="Intro Rust"/>
                <a:sym typeface="Intro Rust"/>
              </a:rPr>
              <a:t>Preguntas de negocio que queremos responder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3020" y="5594985"/>
            <a:ext cx="8641080" cy="130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1"/>
              </a:lnSpc>
            </a:pPr>
            <a:r>
              <a:rPr lang="en-US" sz="2025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•  </a:t>
            </a:r>
            <a:r>
              <a:rPr lang="en-US" sz="202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¿En qué horas y días hay mayor demanda de viajes?</a:t>
            </a:r>
          </a:p>
          <a:p>
            <a:pPr algn="l">
              <a:lnSpc>
                <a:spcPts val="2551"/>
              </a:lnSpc>
            </a:pPr>
            <a:r>
              <a:rPr lang="en-US" sz="2025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•  </a:t>
            </a:r>
            <a:r>
              <a:rPr lang="en-US" sz="202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¿Cuánto se genera en tarifas, propinas y peajes?</a:t>
            </a:r>
          </a:p>
          <a:p>
            <a:pPr algn="l">
              <a:lnSpc>
                <a:spcPts val="2551"/>
              </a:lnSpc>
            </a:pPr>
            <a:r>
              <a:rPr lang="en-US" sz="2025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•  </a:t>
            </a:r>
            <a:r>
              <a:rPr lang="en-US" sz="202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¿Qué formas de pago y tipos de tarifa predominan?</a:t>
            </a:r>
          </a:p>
          <a:p>
            <a:pPr algn="l">
              <a:lnSpc>
                <a:spcPts val="2551"/>
              </a:lnSpc>
            </a:pPr>
            <a:r>
              <a:rPr lang="en-US" sz="2025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•  </a:t>
            </a:r>
            <a:r>
              <a:rPr lang="en-US" sz="202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¿Desde y hacia qué zonas de la ciudad se viaja más?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04220" y="2125980"/>
            <a:ext cx="6515100" cy="7200900"/>
            <a:chOff x="0" y="0"/>
            <a:chExt cx="8686800" cy="960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86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8686800">
                  <a:moveTo>
                    <a:pt x="0" y="1447800"/>
                  </a:moveTo>
                  <a:cubicBezTo>
                    <a:pt x="0" y="648208"/>
                    <a:pt x="648208" y="0"/>
                    <a:pt x="1447800" y="0"/>
                  </a:cubicBezTo>
                  <a:lnTo>
                    <a:pt x="7239000" y="0"/>
                  </a:lnTo>
                  <a:cubicBezTo>
                    <a:pt x="8038592" y="0"/>
                    <a:pt x="8686800" y="648208"/>
                    <a:pt x="8686800" y="1447800"/>
                  </a:cubicBezTo>
                  <a:lnTo>
                    <a:pt x="8686800" y="8153400"/>
                  </a:lnTo>
                  <a:cubicBezTo>
                    <a:pt x="8686800" y="8952992"/>
                    <a:pt x="8038592" y="9601200"/>
                    <a:pt x="7239000" y="9601200"/>
                  </a:cubicBezTo>
                  <a:lnTo>
                    <a:pt x="1447800" y="9601200"/>
                  </a:lnTo>
                  <a:cubicBezTo>
                    <a:pt x="648208" y="9601200"/>
                    <a:pt x="0" y="8952992"/>
                    <a:pt x="0" y="815340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384280" y="2518410"/>
            <a:ext cx="54864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LO QUE DESEAMOS PRODUCIR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384280" y="3291840"/>
            <a:ext cx="192024" cy="192024"/>
            <a:chOff x="0" y="0"/>
            <a:chExt cx="256032" cy="256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823192" y="3182112"/>
            <a:ext cx="5143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Intro Rust"/>
                <a:ea typeface="Intro Rust"/>
                <a:cs typeface="Intro Rust"/>
                <a:sym typeface="Intro Rust"/>
              </a:rPr>
              <a:t>Modelo dimensional limpio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23192" y="3625215"/>
            <a:ext cx="5143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Datos modelados en esquema estrella dentro de un Data Warehouse (BigQuery).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384280" y="4828032"/>
            <a:ext cx="192024" cy="192024"/>
            <a:chOff x="0" y="0"/>
            <a:chExt cx="256032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823192" y="4718304"/>
            <a:ext cx="5143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Intro Rust"/>
                <a:ea typeface="Intro Rust"/>
                <a:cs typeface="Intro Rust"/>
                <a:sym typeface="Intro Rust"/>
              </a:rPr>
              <a:t>Tabla analítica lista para BI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23192" y="5161407"/>
            <a:ext cx="5143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Una tabla desnormalizada que el negocio consulta sin tocar datos crudos.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384280" y="6364224"/>
            <a:ext cx="192024" cy="192024"/>
            <a:chOff x="0" y="0"/>
            <a:chExt cx="256032" cy="256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823192" y="6254496"/>
            <a:ext cx="5143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Intro Rust"/>
                <a:ea typeface="Intro Rust"/>
                <a:cs typeface="Intro Rust"/>
                <a:sym typeface="Intro Rust"/>
              </a:rPr>
              <a:t>Dashboards de negocio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23192" y="6697599"/>
            <a:ext cx="5143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Reportes interactivos en Looker Studio para decisiones basadas en datos.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384280" y="7900416"/>
            <a:ext cx="192024" cy="192024"/>
            <a:chOff x="0" y="0"/>
            <a:chExt cx="256032" cy="2560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823192" y="7790688"/>
            <a:ext cx="51435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FFFFFF"/>
                </a:solidFill>
                <a:latin typeface="Intro Rust"/>
                <a:ea typeface="Intro Rust"/>
                <a:cs typeface="Intro Rust"/>
                <a:sym typeface="Intro Rust"/>
              </a:rPr>
              <a:t>Pipeline reproducible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23192" y="8233791"/>
            <a:ext cx="5143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Flujo ETL orquestado y repetible, no un proceso manual de una sola vez.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2960" y="9760458"/>
            <a:ext cx="10972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Uber Data Analytics · GCP Data Engineering Project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282160" y="9760458"/>
            <a:ext cx="54864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419862"/>
            <a:ext cx="150876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EL DATASET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2960" y="813435"/>
            <a:ext cx="1659636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B1F3A"/>
                </a:solidFill>
                <a:latin typeface="Intro Rust"/>
                <a:ea typeface="Intro Rust"/>
                <a:cs typeface="Intro Rust"/>
                <a:sym typeface="Intro Rust"/>
              </a:rPr>
              <a:t>¿Qué información trae cada viaje?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2960" y="2019300"/>
            <a:ext cx="16596360" cy="3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Cada registro del </a:t>
            </a:r>
            <a:r>
              <a:rPr lang="en-US" sz="210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NYC TLC Trip Records</a:t>
            </a:r>
            <a:r>
              <a:rPr lang="en-US" sz="2100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 tiene </a:t>
            </a:r>
            <a:r>
              <a:rPr lang="en-US" sz="2100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19 columnas crudas</a:t>
            </a:r>
            <a:r>
              <a:rPr lang="en-US" sz="2100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, que agrupamos en 4 familias según lo que describen: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8580" y="2331720"/>
            <a:ext cx="9052560" cy="740664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8846820" y="3086100"/>
            <a:ext cx="4114800" cy="2811780"/>
            <a:chOff x="0" y="0"/>
            <a:chExt cx="5486400" cy="3749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3749040"/>
            </a:xfrm>
            <a:custGeom>
              <a:avLst/>
              <a:gdLst/>
              <a:ahLst/>
              <a:cxnLst/>
              <a:rect r="r" b="b" t="t" l="l"/>
              <a:pathLst>
                <a:path h="3749040" w="5486400">
                  <a:moveTo>
                    <a:pt x="0" y="624840"/>
                  </a:moveTo>
                  <a:cubicBezTo>
                    <a:pt x="0" y="279781"/>
                    <a:pt x="279781" y="0"/>
                    <a:pt x="624840" y="0"/>
                  </a:cubicBezTo>
                  <a:lnTo>
                    <a:pt x="4861560" y="0"/>
                  </a:lnTo>
                  <a:cubicBezTo>
                    <a:pt x="5206619" y="0"/>
                    <a:pt x="5486400" y="279781"/>
                    <a:pt x="5486400" y="624840"/>
                  </a:cubicBezTo>
                  <a:lnTo>
                    <a:pt x="5486400" y="3124200"/>
                  </a:lnTo>
                  <a:cubicBezTo>
                    <a:pt x="5486400" y="3469259"/>
                    <a:pt x="5206619" y="3749040"/>
                    <a:pt x="4861560" y="3749040"/>
                  </a:cubicBezTo>
                  <a:lnTo>
                    <a:pt x="624840" y="3749040"/>
                  </a:lnTo>
                  <a:cubicBezTo>
                    <a:pt x="279781" y="3749040"/>
                    <a:pt x="0" y="3469259"/>
                    <a:pt x="0" y="312420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89720" y="3456432"/>
            <a:ext cx="219456" cy="219456"/>
            <a:chOff x="0" y="0"/>
            <a:chExt cx="292608" cy="292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560052" y="3360420"/>
            <a:ext cx="31546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B1F3A"/>
                </a:solidFill>
                <a:latin typeface="Intro Rust"/>
                <a:ea typeface="Intro Rust"/>
                <a:cs typeface="Intro Rust"/>
                <a:sym typeface="Intro Rust"/>
              </a:rPr>
              <a:t>Temporales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89720" y="3926967"/>
            <a:ext cx="3429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2 columnas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89720" y="4283583"/>
            <a:ext cx="3497580" cy="40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275">
                <a:solidFill>
                  <a:srgbClr val="44526B"/>
                </a:solidFill>
                <a:latin typeface="Poppins"/>
                <a:ea typeface="Poppins"/>
                <a:cs typeface="Poppins"/>
                <a:sym typeface="Poppins"/>
              </a:rPr>
              <a:t>tpep_pickup_datetime, tpep_dropoff_datetime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194792" y="3086100"/>
            <a:ext cx="4114800" cy="2811780"/>
            <a:chOff x="0" y="0"/>
            <a:chExt cx="5486400" cy="3749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3749040"/>
            </a:xfrm>
            <a:custGeom>
              <a:avLst/>
              <a:gdLst/>
              <a:ahLst/>
              <a:cxnLst/>
              <a:rect r="r" b="b" t="t" l="l"/>
              <a:pathLst>
                <a:path h="3749040" w="5486400">
                  <a:moveTo>
                    <a:pt x="0" y="624840"/>
                  </a:moveTo>
                  <a:cubicBezTo>
                    <a:pt x="0" y="279781"/>
                    <a:pt x="279781" y="0"/>
                    <a:pt x="624840" y="0"/>
                  </a:cubicBezTo>
                  <a:lnTo>
                    <a:pt x="4861560" y="0"/>
                  </a:lnTo>
                  <a:cubicBezTo>
                    <a:pt x="5206619" y="0"/>
                    <a:pt x="5486400" y="279781"/>
                    <a:pt x="5486400" y="624840"/>
                  </a:cubicBezTo>
                  <a:lnTo>
                    <a:pt x="5486400" y="3124200"/>
                  </a:lnTo>
                  <a:cubicBezTo>
                    <a:pt x="5486400" y="3469259"/>
                    <a:pt x="5206619" y="3749040"/>
                    <a:pt x="4861560" y="3749040"/>
                  </a:cubicBezTo>
                  <a:lnTo>
                    <a:pt x="624840" y="3749040"/>
                  </a:lnTo>
                  <a:cubicBezTo>
                    <a:pt x="279781" y="3749040"/>
                    <a:pt x="0" y="3469259"/>
                    <a:pt x="0" y="312420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537692" y="3456432"/>
            <a:ext cx="219456" cy="219456"/>
            <a:chOff x="0" y="0"/>
            <a:chExt cx="292608" cy="2926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16335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908024" y="3360420"/>
            <a:ext cx="31546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B1F3A"/>
                </a:solidFill>
                <a:latin typeface="Intro Rust"/>
                <a:ea typeface="Intro Rust"/>
                <a:cs typeface="Intro Rust"/>
                <a:sym typeface="Intro Rust"/>
              </a:rPr>
              <a:t>Ubicación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37692" y="3926967"/>
            <a:ext cx="3429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4 columnas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537692" y="4283583"/>
            <a:ext cx="3497580" cy="40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275">
                <a:solidFill>
                  <a:srgbClr val="44526B"/>
                </a:solidFill>
                <a:latin typeface="Poppins"/>
                <a:ea typeface="Poppins"/>
                <a:cs typeface="Poppins"/>
                <a:sym typeface="Poppins"/>
              </a:rPr>
              <a:t>pickup_latitude, pickup_longitude, dropoff_latitude, dropoff_longitude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846820" y="6103620"/>
            <a:ext cx="4114800" cy="2811780"/>
            <a:chOff x="0" y="0"/>
            <a:chExt cx="5486400" cy="3749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3749040"/>
            </a:xfrm>
            <a:custGeom>
              <a:avLst/>
              <a:gdLst/>
              <a:ahLst/>
              <a:cxnLst/>
              <a:rect r="r" b="b" t="t" l="l"/>
              <a:pathLst>
                <a:path h="3749040" w="5486400">
                  <a:moveTo>
                    <a:pt x="0" y="624840"/>
                  </a:moveTo>
                  <a:cubicBezTo>
                    <a:pt x="0" y="279781"/>
                    <a:pt x="279781" y="0"/>
                    <a:pt x="624840" y="0"/>
                  </a:cubicBezTo>
                  <a:lnTo>
                    <a:pt x="4861560" y="0"/>
                  </a:lnTo>
                  <a:cubicBezTo>
                    <a:pt x="5206619" y="0"/>
                    <a:pt x="5486400" y="279781"/>
                    <a:pt x="5486400" y="624840"/>
                  </a:cubicBezTo>
                  <a:lnTo>
                    <a:pt x="5486400" y="3124200"/>
                  </a:lnTo>
                  <a:cubicBezTo>
                    <a:pt x="5486400" y="3469259"/>
                    <a:pt x="5206619" y="3749040"/>
                    <a:pt x="4861560" y="3749040"/>
                  </a:cubicBezTo>
                  <a:lnTo>
                    <a:pt x="624840" y="3749040"/>
                  </a:lnTo>
                  <a:cubicBezTo>
                    <a:pt x="279781" y="3749040"/>
                    <a:pt x="0" y="3469259"/>
                    <a:pt x="0" y="312420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89720" y="6473952"/>
            <a:ext cx="219456" cy="219456"/>
            <a:chOff x="0" y="0"/>
            <a:chExt cx="292608" cy="292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3A6EA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60052" y="6377940"/>
            <a:ext cx="31546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B1F3A"/>
                </a:solidFill>
                <a:latin typeface="Intro Rust"/>
                <a:ea typeface="Intro Rust"/>
                <a:cs typeface="Intro Rust"/>
                <a:sym typeface="Intro Rust"/>
              </a:rPr>
              <a:t>Viaje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89720" y="6944487"/>
            <a:ext cx="3429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5 columnas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89720" y="7301103"/>
            <a:ext cx="3497580" cy="40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275">
                <a:solidFill>
                  <a:srgbClr val="44526B"/>
                </a:solidFill>
                <a:latin typeface="Poppins"/>
                <a:ea typeface="Poppins"/>
                <a:cs typeface="Poppins"/>
                <a:sym typeface="Poppins"/>
              </a:rPr>
              <a:t>VendorID, passenger_count, trip_distance, RatecodeID, store_and_fwd_flag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194792" y="6103620"/>
            <a:ext cx="4114800" cy="2811780"/>
            <a:chOff x="0" y="0"/>
            <a:chExt cx="5486400" cy="3749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86400" cy="3749040"/>
            </a:xfrm>
            <a:custGeom>
              <a:avLst/>
              <a:gdLst/>
              <a:ahLst/>
              <a:cxnLst/>
              <a:rect r="r" b="b" t="t" l="l"/>
              <a:pathLst>
                <a:path h="3749040" w="5486400">
                  <a:moveTo>
                    <a:pt x="0" y="624840"/>
                  </a:moveTo>
                  <a:cubicBezTo>
                    <a:pt x="0" y="279781"/>
                    <a:pt x="279781" y="0"/>
                    <a:pt x="624840" y="0"/>
                  </a:cubicBezTo>
                  <a:lnTo>
                    <a:pt x="4861560" y="0"/>
                  </a:lnTo>
                  <a:cubicBezTo>
                    <a:pt x="5206619" y="0"/>
                    <a:pt x="5486400" y="279781"/>
                    <a:pt x="5486400" y="624840"/>
                  </a:cubicBezTo>
                  <a:lnTo>
                    <a:pt x="5486400" y="3124200"/>
                  </a:lnTo>
                  <a:cubicBezTo>
                    <a:pt x="5486400" y="3469259"/>
                    <a:pt x="5206619" y="3749040"/>
                    <a:pt x="4861560" y="3749040"/>
                  </a:cubicBezTo>
                  <a:lnTo>
                    <a:pt x="624840" y="3749040"/>
                  </a:lnTo>
                  <a:cubicBezTo>
                    <a:pt x="279781" y="3749040"/>
                    <a:pt x="0" y="3469259"/>
                    <a:pt x="0" y="312420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537692" y="6473952"/>
            <a:ext cx="219456" cy="219456"/>
            <a:chOff x="0" y="0"/>
            <a:chExt cx="292608" cy="2926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B6E6D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908024" y="6377940"/>
            <a:ext cx="315468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B1F3A"/>
                </a:solidFill>
                <a:latin typeface="Intro Rust"/>
                <a:ea typeface="Intro Rust"/>
                <a:cs typeface="Intro Rust"/>
                <a:sym typeface="Intro Rust"/>
              </a:rPr>
              <a:t>Tarifas y pago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37692" y="6944487"/>
            <a:ext cx="3429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E9594"/>
                </a:solidFill>
                <a:latin typeface="Poppins Bold"/>
                <a:ea typeface="Poppins Bold"/>
                <a:cs typeface="Poppins Bold"/>
                <a:sym typeface="Poppins Bold"/>
              </a:rPr>
              <a:t>8 columnas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537692" y="7301103"/>
            <a:ext cx="3497580" cy="60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275">
                <a:solidFill>
                  <a:srgbClr val="44526B"/>
                </a:solidFill>
                <a:latin typeface="Poppins"/>
                <a:ea typeface="Poppins"/>
                <a:cs typeface="Poppins"/>
                <a:sym typeface="Poppins"/>
              </a:rPr>
              <a:t>fare_amount, extra, mta_tax, tip_amount, tolls_amount, improvement_surcharge, total_amount, payment_type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2960" y="9760458"/>
            <a:ext cx="109728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Uber Data Analytics · GCP Data Engineering Project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82160" y="9760458"/>
            <a:ext cx="54864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38912"/>
            <a:ext cx="10972800" cy="440893"/>
            <a:chOff x="0" y="0"/>
            <a:chExt cx="14630400" cy="587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7858"/>
            </a:xfrm>
            <a:custGeom>
              <a:avLst/>
              <a:gdLst/>
              <a:ahLst/>
              <a:cxnLst/>
              <a:rect r="r" b="b" t="t" l="l"/>
              <a:pathLst>
                <a:path h="58785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272" r="0" b="-431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CONTEXTO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22960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¿Cuál es la idea del proyecto?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2960" y="2049780"/>
            <a:ext cx="960120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Construir un pipeline ETL completo en la nube que tome datos crudos de viajes de Uber (taxi data NYC TLC) y los transforme en un modelo analítico listo para generar reportes y dashboards de negocio.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4457700"/>
            <a:ext cx="9601200" cy="4869180"/>
            <a:chOff x="0" y="0"/>
            <a:chExt cx="12801600" cy="6492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01600" cy="6492240"/>
            </a:xfrm>
            <a:custGeom>
              <a:avLst/>
              <a:gdLst/>
              <a:ahLst/>
              <a:cxnLst/>
              <a:rect r="r" b="b" t="t" l="l"/>
              <a:pathLst>
                <a:path h="6492240" w="12801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2655296" y="0"/>
                  </a:lnTo>
                  <a:cubicBezTo>
                    <a:pt x="12736068" y="0"/>
                    <a:pt x="12801600" y="65532"/>
                    <a:pt x="12801600" y="146304"/>
                  </a:cubicBezTo>
                  <a:lnTo>
                    <a:pt x="12801600" y="6345936"/>
                  </a:lnTo>
                  <a:cubicBezTo>
                    <a:pt x="12801600" y="6426708"/>
                    <a:pt x="12736068" y="6492240"/>
                    <a:pt x="12655296" y="6492240"/>
                  </a:cubicBezTo>
                  <a:lnTo>
                    <a:pt x="146304" y="6492240"/>
                  </a:lnTo>
                  <a:cubicBezTo>
                    <a:pt x="65532" y="6492240"/>
                    <a:pt x="0" y="6426708"/>
                    <a:pt x="0" y="6345936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03020" y="4800600"/>
            <a:ext cx="8641080" cy="548640"/>
            <a:chOff x="0" y="0"/>
            <a:chExt cx="1152144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21440" cy="731520"/>
            </a:xfrm>
            <a:custGeom>
              <a:avLst/>
              <a:gdLst/>
              <a:ahLst/>
              <a:cxnLst/>
              <a:rect r="r" b="b" t="t" l="l"/>
              <a:pathLst>
                <a:path h="73152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5214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Objetivos clave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03020" y="5467350"/>
            <a:ext cx="864108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Extraer datos crudos de viajes desde almacenamiento en la nube (Cloud Storage)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Transformar y modelar los datos en un esquema dimensional (estrella)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Cargar el modelo limpio en un Data Warehouse (BigQuery)</a:t>
            </a:r>
          </a:p>
          <a:p>
            <a:pPr algn="l" marL="366474" indent="-183237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Habilitar análisis y visualización de negocio (Looker Studio)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904220" y="2125980"/>
            <a:ext cx="6515100" cy="7200900"/>
            <a:chOff x="0" y="0"/>
            <a:chExt cx="8686800" cy="960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86800" cy="9601200"/>
            </a:xfrm>
            <a:custGeom>
              <a:avLst/>
              <a:gdLst/>
              <a:ahLst/>
              <a:cxnLst/>
              <a:rect r="r" b="b" t="t" l="l"/>
              <a:pathLst>
                <a:path h="9601200" w="8686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540496" y="0"/>
                  </a:lnTo>
                  <a:cubicBezTo>
                    <a:pt x="8621268" y="0"/>
                    <a:pt x="8686800" y="65532"/>
                    <a:pt x="8686800" y="146304"/>
                  </a:cubicBezTo>
                  <a:lnTo>
                    <a:pt x="8686800" y="9454896"/>
                  </a:lnTo>
                  <a:cubicBezTo>
                    <a:pt x="8686800" y="9535668"/>
                    <a:pt x="8621268" y="9601200"/>
                    <a:pt x="8540496" y="9601200"/>
                  </a:cubicBezTo>
                  <a:lnTo>
                    <a:pt x="146304" y="9601200"/>
                  </a:lnTo>
                  <a:cubicBezTo>
                    <a:pt x="65532" y="9601200"/>
                    <a:pt x="0" y="9535668"/>
                    <a:pt x="0" y="945489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384280" y="2468880"/>
            <a:ext cx="5486400" cy="440893"/>
            <a:chOff x="0" y="0"/>
            <a:chExt cx="7315200" cy="5878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587858"/>
            </a:xfrm>
            <a:custGeom>
              <a:avLst/>
              <a:gdLst/>
              <a:ahLst/>
              <a:cxnLst/>
              <a:rect r="r" b="b" t="t" l="l"/>
              <a:pathLst>
                <a:path h="58785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04" r="0" b="-18913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315200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EL DATASET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84280" y="2880360"/>
            <a:ext cx="5623560" cy="960120"/>
            <a:chOff x="0" y="0"/>
            <a:chExt cx="749808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98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126" r="0" b="-6412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74980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NYC TLC Trip Records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(Yellow Taxi)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84280" y="4046220"/>
            <a:ext cx="548640" cy="548640"/>
            <a:chOff x="0" y="0"/>
            <a:chExt cx="731520" cy="731520"/>
          </a:xfrm>
        </p:grpSpPr>
        <p:sp>
          <p:nvSpPr>
            <p:cNvPr name="Freeform 24" id="24" descr="/home/claude/icons/csv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138660" y="3950208"/>
            <a:ext cx="3017520" cy="771334"/>
            <a:chOff x="0" y="0"/>
            <a:chExt cx="4023360" cy="10284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23360" cy="1028446"/>
            </a:xfrm>
            <a:custGeom>
              <a:avLst/>
              <a:gdLst/>
              <a:ahLst/>
              <a:cxnLst/>
              <a:rect r="r" b="b" t="t" l="l"/>
              <a:pathLst>
                <a:path h="102844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8446"/>
                  </a:lnTo>
                  <a:lnTo>
                    <a:pt x="0" y="10284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71" r="0" b="-206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023360" cy="1028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100,000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384280" y="4690872"/>
            <a:ext cx="5486400" cy="424110"/>
            <a:chOff x="0" y="0"/>
            <a:chExt cx="7315200" cy="565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565480"/>
            </a:xfrm>
            <a:custGeom>
              <a:avLst/>
              <a:gdLst/>
              <a:ahLst/>
              <a:cxnLst/>
              <a:rect r="r" b="b" t="t" l="l"/>
              <a:pathLst>
                <a:path h="5654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65480"/>
                  </a:lnTo>
                  <a:lnTo>
                    <a:pt x="0" y="565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552" r="0" b="-20057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315200" cy="575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ADCFC"/>
                  </a:solidFill>
                  <a:latin typeface="Poppins"/>
                  <a:ea typeface="Poppins"/>
                  <a:cs typeface="Poppins"/>
                  <a:sym typeface="Poppins"/>
                </a:rPr>
                <a:t>registros de viajes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84280" y="5417820"/>
            <a:ext cx="548640" cy="548640"/>
            <a:chOff x="0" y="0"/>
            <a:chExt cx="731520" cy="731520"/>
          </a:xfrm>
        </p:grpSpPr>
        <p:sp>
          <p:nvSpPr>
            <p:cNvPr name="Freeform 32" id="32" descr="/home/claude/icons/table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38660" y="5321808"/>
            <a:ext cx="3017520" cy="771334"/>
            <a:chOff x="0" y="0"/>
            <a:chExt cx="4023360" cy="102844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23360" cy="1028446"/>
            </a:xfrm>
            <a:custGeom>
              <a:avLst/>
              <a:gdLst/>
              <a:ahLst/>
              <a:cxnLst/>
              <a:rect r="r" b="b" t="t" l="l"/>
              <a:pathLst>
                <a:path h="102844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8446"/>
                  </a:lnTo>
                  <a:lnTo>
                    <a:pt x="0" y="10284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71" r="0" b="-2068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023360" cy="1028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19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384280" y="6103620"/>
            <a:ext cx="5623560" cy="754380"/>
            <a:chOff x="0" y="0"/>
            <a:chExt cx="749808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749808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ADCFC"/>
                  </a:solidFill>
                  <a:latin typeface="Poppins"/>
                  <a:ea typeface="Poppins"/>
                  <a:cs typeface="Poppins"/>
                  <a:sym typeface="Poppins"/>
                </a:rPr>
                <a:t>columnas crudas (fechas, ubicación, tarifas, pasajeros)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384280" y="7063740"/>
            <a:ext cx="548640" cy="548640"/>
            <a:chOff x="0" y="0"/>
            <a:chExt cx="731520" cy="731520"/>
          </a:xfrm>
        </p:grpSpPr>
        <p:sp>
          <p:nvSpPr>
            <p:cNvPr name="Freeform 40" id="40" descr="/home/claude/icons/layer_white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138660" y="6967728"/>
            <a:ext cx="3017520" cy="771334"/>
            <a:chOff x="0" y="0"/>
            <a:chExt cx="4023360" cy="102844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23360" cy="1028446"/>
            </a:xfrm>
            <a:custGeom>
              <a:avLst/>
              <a:gdLst/>
              <a:ahLst/>
              <a:cxnLst/>
              <a:rect r="r" b="b" t="t" l="l"/>
              <a:pathLst>
                <a:path h="102844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28446"/>
                  </a:lnTo>
                  <a:lnTo>
                    <a:pt x="0" y="10284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71" r="0" b="-2068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023360" cy="10284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384280" y="7749540"/>
            <a:ext cx="5623560" cy="754380"/>
            <a:chOff x="0" y="0"/>
            <a:chExt cx="7498080" cy="1005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98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252" r="0" b="-952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749808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CADCFC"/>
                  </a:solidFill>
                  <a:latin typeface="Poppins"/>
                  <a:ea typeface="Poppins"/>
                  <a:cs typeface="Poppins"/>
                  <a:sym typeface="Poppins"/>
                </a:rPr>
                <a:t>tablas en el modelo (1 hechos + 7 dimensiones)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384280" y="8709660"/>
            <a:ext cx="5623560" cy="411480"/>
            <a:chOff x="0" y="0"/>
            <a:chExt cx="749808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98080" cy="548640"/>
            </a:xfrm>
            <a:custGeom>
              <a:avLst/>
              <a:gdLst/>
              <a:ahLst/>
              <a:cxnLst/>
              <a:rect r="r" b="b" t="t" l="l"/>
              <a:pathLst>
                <a:path h="548640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295" r="0" b="-21629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74980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CADCFC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Fuente: NYC Taxi &amp; Limousine Commission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779508"/>
            <a:ext cx="10972800" cy="411480"/>
            <a:chOff x="0" y="0"/>
            <a:chExt cx="146304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Uber Data Analytics · GCP Data Engineering Project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282160" y="9779508"/>
            <a:ext cx="548640" cy="411480"/>
            <a:chOff x="0" y="0"/>
            <a:chExt cx="73152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38912"/>
            <a:ext cx="10972800" cy="440893"/>
            <a:chOff x="0" y="0"/>
            <a:chExt cx="14630400" cy="587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7858"/>
            </a:xfrm>
            <a:custGeom>
              <a:avLst/>
              <a:gdLst/>
              <a:ahLst/>
              <a:cxnLst/>
              <a:rect r="r" b="b" t="t" l="l"/>
              <a:pathLst>
                <a:path h="58785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272" r="0" b="-431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ARQUITECTURA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22960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Flujo end-to-end en GCP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3154680"/>
            <a:ext cx="3497580" cy="3429000"/>
            <a:chOff x="0" y="0"/>
            <a:chExt cx="4663440" cy="457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6344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0"/>
                  </a:lnTo>
                  <a:cubicBezTo>
                    <a:pt x="4663440" y="4490085"/>
                    <a:pt x="4581525" y="4572000"/>
                    <a:pt x="4480560" y="4572000"/>
                  </a:cubicBezTo>
                  <a:lnTo>
                    <a:pt x="182880" y="4572000"/>
                  </a:lnTo>
                  <a:cubicBezTo>
                    <a:pt x="81915" y="4572000"/>
                    <a:pt x="0" y="4490085"/>
                    <a:pt x="0" y="438912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88820" y="3634740"/>
            <a:ext cx="1165860" cy="1165860"/>
            <a:chOff x="0" y="0"/>
            <a:chExt cx="15544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83714" y="3929634"/>
            <a:ext cx="576072" cy="576072"/>
            <a:chOff x="0" y="0"/>
            <a:chExt cx="768096" cy="768096"/>
          </a:xfrm>
        </p:grpSpPr>
        <p:sp>
          <p:nvSpPr>
            <p:cNvPr name="Freeform 13" id="13" descr="/home/claude/icons/storage_white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4937760"/>
            <a:ext cx="3223260" cy="480060"/>
            <a:chOff x="0" y="0"/>
            <a:chExt cx="429768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97680" cy="640080"/>
            </a:xfrm>
            <a:custGeom>
              <a:avLst/>
              <a:gdLst/>
              <a:ahLst/>
              <a:cxnLst/>
              <a:rect r="r" b="b" t="t" l="l"/>
              <a:pathLst>
                <a:path h="640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297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Raw Data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5376672"/>
            <a:ext cx="3223260" cy="411480"/>
            <a:chOff x="0" y="0"/>
            <a:chExt cx="429768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9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297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Cloud Storage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5829300"/>
            <a:ext cx="3086100" cy="754380"/>
            <a:chOff x="0" y="0"/>
            <a:chExt cx="411480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114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CSV crudo de viajes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almacenado en un bucket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61688" y="4690872"/>
            <a:ext cx="493776" cy="356616"/>
            <a:chOff x="0" y="0"/>
            <a:chExt cx="658368" cy="4754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" cy="475488"/>
            </a:xfrm>
            <a:custGeom>
              <a:avLst/>
              <a:gdLst/>
              <a:ahLst/>
              <a:cxnLst/>
              <a:rect r="r" b="b" t="t" l="l"/>
              <a:pathLst>
                <a:path h="475488" w="658368">
                  <a:moveTo>
                    <a:pt x="0" y="118872"/>
                  </a:moveTo>
                  <a:lnTo>
                    <a:pt x="420624" y="118872"/>
                  </a:lnTo>
                  <a:lnTo>
                    <a:pt x="420624" y="0"/>
                  </a:lnTo>
                  <a:lnTo>
                    <a:pt x="658368" y="237744"/>
                  </a:lnTo>
                  <a:lnTo>
                    <a:pt x="420624" y="475488"/>
                  </a:lnTo>
                  <a:lnTo>
                    <a:pt x="420624" y="356616"/>
                  </a:lnTo>
                  <a:lnTo>
                    <a:pt x="0" y="356616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896612" y="3154680"/>
            <a:ext cx="3497580" cy="3429000"/>
            <a:chOff x="0" y="0"/>
            <a:chExt cx="4663440" cy="4572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6344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0"/>
                  </a:lnTo>
                  <a:cubicBezTo>
                    <a:pt x="4663440" y="4490085"/>
                    <a:pt x="4581525" y="4572000"/>
                    <a:pt x="4480560" y="4572000"/>
                  </a:cubicBezTo>
                  <a:lnTo>
                    <a:pt x="182880" y="4572000"/>
                  </a:lnTo>
                  <a:cubicBezTo>
                    <a:pt x="81915" y="4572000"/>
                    <a:pt x="0" y="4490085"/>
                    <a:pt x="0" y="4389120"/>
                  </a:cubicBezTo>
                  <a:close/>
                </a:path>
              </a:pathLst>
            </a:custGeom>
            <a:solidFill>
              <a:srgbClr val="E3F7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062472" y="3634740"/>
            <a:ext cx="1165860" cy="1165860"/>
            <a:chOff x="0" y="0"/>
            <a:chExt cx="155448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57366" y="3929634"/>
            <a:ext cx="576072" cy="576072"/>
            <a:chOff x="0" y="0"/>
            <a:chExt cx="768096" cy="768096"/>
          </a:xfrm>
        </p:grpSpPr>
        <p:sp>
          <p:nvSpPr>
            <p:cNvPr name="Freeform 30" id="30" descr="/home/claude/icons/cogs_white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033772" y="4937760"/>
            <a:ext cx="3223260" cy="480060"/>
            <a:chOff x="0" y="0"/>
            <a:chExt cx="429768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97680" cy="640080"/>
            </a:xfrm>
            <a:custGeom>
              <a:avLst/>
              <a:gdLst/>
              <a:ahLst/>
              <a:cxnLst/>
              <a:rect r="r" b="b" t="t" l="l"/>
              <a:pathLst>
                <a:path h="640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297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ETL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33772" y="5376672"/>
            <a:ext cx="3223260" cy="411480"/>
            <a:chOff x="0" y="0"/>
            <a:chExt cx="429768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9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297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Mage + Compute Engine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102352" y="5829300"/>
            <a:ext cx="3086100" cy="754380"/>
            <a:chOff x="0" y="0"/>
            <a:chExt cx="411480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4114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Extracción, transformación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y modelado de datos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435340" y="4690872"/>
            <a:ext cx="493776" cy="356616"/>
            <a:chOff x="0" y="0"/>
            <a:chExt cx="658368" cy="4754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368" cy="475488"/>
            </a:xfrm>
            <a:custGeom>
              <a:avLst/>
              <a:gdLst/>
              <a:ahLst/>
              <a:cxnLst/>
              <a:rect r="r" b="b" t="t" l="l"/>
              <a:pathLst>
                <a:path h="475488" w="658368">
                  <a:moveTo>
                    <a:pt x="0" y="118872"/>
                  </a:moveTo>
                  <a:lnTo>
                    <a:pt x="420624" y="118872"/>
                  </a:lnTo>
                  <a:lnTo>
                    <a:pt x="420624" y="0"/>
                  </a:lnTo>
                  <a:lnTo>
                    <a:pt x="658368" y="237744"/>
                  </a:lnTo>
                  <a:lnTo>
                    <a:pt x="420624" y="475488"/>
                  </a:lnTo>
                  <a:lnTo>
                    <a:pt x="420624" y="356616"/>
                  </a:lnTo>
                  <a:lnTo>
                    <a:pt x="0" y="356616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970264" y="3154680"/>
            <a:ext cx="3497580" cy="3429000"/>
            <a:chOff x="0" y="0"/>
            <a:chExt cx="4663440" cy="457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66344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0"/>
                  </a:lnTo>
                  <a:cubicBezTo>
                    <a:pt x="4663440" y="4490085"/>
                    <a:pt x="4581525" y="4572000"/>
                    <a:pt x="4480560" y="4572000"/>
                  </a:cubicBezTo>
                  <a:lnTo>
                    <a:pt x="182880" y="4572000"/>
                  </a:lnTo>
                  <a:cubicBezTo>
                    <a:pt x="81915" y="4572000"/>
                    <a:pt x="0" y="4490085"/>
                    <a:pt x="0" y="438912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136124" y="3634740"/>
            <a:ext cx="1165860" cy="1165860"/>
            <a:chOff x="0" y="0"/>
            <a:chExt cx="15544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431018" y="3929634"/>
            <a:ext cx="576072" cy="576072"/>
            <a:chOff x="0" y="0"/>
            <a:chExt cx="768096" cy="768096"/>
          </a:xfrm>
        </p:grpSpPr>
        <p:sp>
          <p:nvSpPr>
            <p:cNvPr name="Freeform 47" id="47" descr="/home/claude/icons/analytics_white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107424" y="4937760"/>
            <a:ext cx="3223260" cy="480060"/>
            <a:chOff x="0" y="0"/>
            <a:chExt cx="429768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97680" cy="640080"/>
            </a:xfrm>
            <a:custGeom>
              <a:avLst/>
              <a:gdLst/>
              <a:ahLst/>
              <a:cxnLst/>
              <a:rect r="r" b="b" t="t" l="l"/>
              <a:pathLst>
                <a:path h="640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4297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Analytics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07424" y="5376672"/>
            <a:ext cx="3223260" cy="411480"/>
            <a:chOff x="0" y="0"/>
            <a:chExt cx="429768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9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297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BigQuery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76004" y="5829300"/>
            <a:ext cx="3086100" cy="754380"/>
            <a:chOff x="0" y="0"/>
            <a:chExt cx="4114800" cy="10058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4114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Data Warehouse y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query de analítica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508992" y="4690872"/>
            <a:ext cx="493776" cy="356616"/>
            <a:chOff x="0" y="0"/>
            <a:chExt cx="658368" cy="4754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8368" cy="475488"/>
            </a:xfrm>
            <a:custGeom>
              <a:avLst/>
              <a:gdLst/>
              <a:ahLst/>
              <a:cxnLst/>
              <a:rect r="r" b="b" t="t" l="l"/>
              <a:pathLst>
                <a:path h="475488" w="658368">
                  <a:moveTo>
                    <a:pt x="0" y="118872"/>
                  </a:moveTo>
                  <a:lnTo>
                    <a:pt x="420624" y="118872"/>
                  </a:lnTo>
                  <a:lnTo>
                    <a:pt x="420624" y="0"/>
                  </a:lnTo>
                  <a:lnTo>
                    <a:pt x="658368" y="237744"/>
                  </a:lnTo>
                  <a:lnTo>
                    <a:pt x="420624" y="475488"/>
                  </a:lnTo>
                  <a:lnTo>
                    <a:pt x="420624" y="356616"/>
                  </a:lnTo>
                  <a:lnTo>
                    <a:pt x="0" y="356616"/>
                  </a:ln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043916" y="3154680"/>
            <a:ext cx="3497580" cy="3429000"/>
            <a:chOff x="0" y="0"/>
            <a:chExt cx="4663440" cy="4572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663440" cy="4572000"/>
            </a:xfrm>
            <a:custGeom>
              <a:avLst/>
              <a:gdLst/>
              <a:ahLst/>
              <a:cxnLst/>
              <a:rect r="r" b="b" t="t" l="l"/>
              <a:pathLst>
                <a:path h="4572000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0"/>
                  </a:lnTo>
                  <a:cubicBezTo>
                    <a:pt x="4663440" y="4490085"/>
                    <a:pt x="4581525" y="4572000"/>
                    <a:pt x="4480560" y="4572000"/>
                  </a:cubicBezTo>
                  <a:lnTo>
                    <a:pt x="182880" y="4572000"/>
                  </a:lnTo>
                  <a:cubicBezTo>
                    <a:pt x="81915" y="4572000"/>
                    <a:pt x="0" y="4490085"/>
                    <a:pt x="0" y="4389120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209776" y="3634740"/>
            <a:ext cx="1165860" cy="1165860"/>
            <a:chOff x="0" y="0"/>
            <a:chExt cx="1554480" cy="15544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504670" y="3929634"/>
            <a:ext cx="576072" cy="576072"/>
            <a:chOff x="0" y="0"/>
            <a:chExt cx="768096" cy="768096"/>
          </a:xfrm>
        </p:grpSpPr>
        <p:sp>
          <p:nvSpPr>
            <p:cNvPr name="Freeform 64" id="64" descr="/home/claude/icons/dashboard_white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181076" y="4937760"/>
            <a:ext cx="3223260" cy="480060"/>
            <a:chOff x="0" y="0"/>
            <a:chExt cx="4297680" cy="6400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97680" cy="640080"/>
            </a:xfrm>
            <a:custGeom>
              <a:avLst/>
              <a:gdLst/>
              <a:ahLst/>
              <a:cxnLst/>
              <a:rect r="r" b="b" t="t" l="l"/>
              <a:pathLst>
                <a:path h="6400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2976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Visualización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181076" y="5376672"/>
            <a:ext cx="3223260" cy="411480"/>
            <a:chOff x="0" y="0"/>
            <a:chExt cx="429768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297680" cy="548640"/>
            </a:xfrm>
            <a:custGeom>
              <a:avLst/>
              <a:gdLst/>
              <a:ahLst/>
              <a:cxnLst/>
              <a:rect r="r" b="b" t="t" l="l"/>
              <a:pathLst>
                <a:path h="54864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297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Looker Studio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249656" y="5829300"/>
            <a:ext cx="3086100" cy="754380"/>
            <a:chOff x="0" y="0"/>
            <a:chExt cx="4114800" cy="1005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148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11" r="0" b="-2971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41148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Dashboards y reportes</a:t>
              </a:r>
            </a:p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de negocio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22960" y="6926580"/>
            <a:ext cx="16184880" cy="411480"/>
            <a:chOff x="0" y="0"/>
            <a:chExt cx="2157984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579839" cy="548640"/>
            </a:xfrm>
            <a:custGeom>
              <a:avLst/>
              <a:gdLst/>
              <a:ahLst/>
              <a:cxnLst/>
              <a:rect r="r" b="b" t="t" l="l"/>
              <a:pathLst>
                <a:path h="54864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6411" r="0" b="-71641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215798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5B6B85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Arquitectura basada en el diagrama oficial del proyecto (architecture.jpg)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13435" y="7534275"/>
            <a:ext cx="16203930" cy="2282190"/>
            <a:chOff x="0" y="0"/>
            <a:chExt cx="21605240" cy="30429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605239" cy="3042920"/>
            </a:xfrm>
            <a:custGeom>
              <a:avLst/>
              <a:gdLst/>
              <a:ahLst/>
              <a:cxnLst/>
              <a:rect r="r" b="b" t="t" l="l"/>
              <a:pathLst>
                <a:path h="3042920" w="21605239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21494623" y="0"/>
                  </a:lnTo>
                  <a:cubicBezTo>
                    <a:pt x="21555711" y="0"/>
                    <a:pt x="21605239" y="49530"/>
                    <a:pt x="21605239" y="110617"/>
                  </a:cubicBezTo>
                  <a:lnTo>
                    <a:pt x="21605239" y="2932303"/>
                  </a:lnTo>
                  <a:cubicBezTo>
                    <a:pt x="21605239" y="2993390"/>
                    <a:pt x="21555711" y="3042920"/>
                    <a:pt x="21494623" y="3042920"/>
                  </a:cubicBezTo>
                  <a:lnTo>
                    <a:pt x="110617" y="3042920"/>
                  </a:lnTo>
                  <a:cubicBezTo>
                    <a:pt x="49530" y="3042920"/>
                    <a:pt x="0" y="2993390"/>
                    <a:pt x="0" y="2932303"/>
                  </a:cubicBezTo>
                  <a:close/>
                </a:path>
              </a:pathLst>
            </a:custGeom>
            <a:solidFill>
              <a:srgbClr val="F4F6FB"/>
            </a:solidFill>
            <a:ln w="19050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920240" y="7708392"/>
            <a:ext cx="13990320" cy="1947672"/>
            <a:chOff x="0" y="0"/>
            <a:chExt cx="18653760" cy="2596896"/>
          </a:xfrm>
        </p:grpSpPr>
        <p:sp>
          <p:nvSpPr>
            <p:cNvPr name="Freeform 80" id="80" descr="/home/claude/project_extracted/uber-etl-pipeline-data-engineering-project-main/architecture.jpg"/>
            <p:cNvSpPr/>
            <p:nvPr/>
          </p:nvSpPr>
          <p:spPr>
            <a:xfrm flipH="false" flipV="false" rot="0">
              <a:off x="0" y="0"/>
              <a:ext cx="18653761" cy="2596896"/>
            </a:xfrm>
            <a:custGeom>
              <a:avLst/>
              <a:gdLst/>
              <a:ahLst/>
              <a:cxnLst/>
              <a:rect r="r" b="b" t="t" l="l"/>
              <a:pathLst>
                <a:path h="2596896" w="18653761">
                  <a:moveTo>
                    <a:pt x="0" y="0"/>
                  </a:moveTo>
                  <a:lnTo>
                    <a:pt x="18653761" y="0"/>
                  </a:lnTo>
                  <a:lnTo>
                    <a:pt x="18653761" y="2596896"/>
                  </a:lnTo>
                  <a:lnTo>
                    <a:pt x="0" y="2596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304049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22960" y="9779508"/>
            <a:ext cx="10972800" cy="411480"/>
            <a:chOff x="0" y="0"/>
            <a:chExt cx="1463040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Uber Data Analytics · GCP Data Engineering Project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7282160" y="9779508"/>
            <a:ext cx="548640" cy="411480"/>
            <a:chOff x="0" y="0"/>
            <a:chExt cx="73152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38912"/>
            <a:ext cx="10972800" cy="440893"/>
            <a:chOff x="0" y="0"/>
            <a:chExt cx="14630400" cy="587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7858"/>
            </a:xfrm>
            <a:custGeom>
              <a:avLst/>
              <a:gdLst/>
              <a:ahLst/>
              <a:cxnLst/>
              <a:rect r="r" b="b" t="t" l="l"/>
              <a:pathLst>
                <a:path h="58785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272" r="0" b="-431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STACK TECNOLÓGICO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22960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Tecnologías utilizadas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5280660" cy="2948940"/>
            <a:chOff x="0" y="0"/>
            <a:chExt cx="7040880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767328"/>
                  </a:lnTo>
                  <a:cubicBezTo>
                    <a:pt x="7040880" y="3858260"/>
                    <a:pt x="6967220" y="3931920"/>
                    <a:pt x="6876288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468880"/>
            <a:ext cx="891540" cy="891540"/>
            <a:chOff x="0" y="0"/>
            <a:chExt cx="1188720" cy="1188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5316" y="2688336"/>
            <a:ext cx="452628" cy="452628"/>
            <a:chOff x="0" y="0"/>
            <a:chExt cx="603504" cy="603504"/>
          </a:xfrm>
        </p:grpSpPr>
        <p:sp>
          <p:nvSpPr>
            <p:cNvPr name="Freeform 13" id="13" descr="/home/claude/icons/python_white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63140" y="2427732"/>
            <a:ext cx="3634740" cy="480060"/>
            <a:chOff x="0" y="0"/>
            <a:chExt cx="484632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46320" cy="640080"/>
            </a:xfrm>
            <a:custGeom>
              <a:avLst/>
              <a:gdLst/>
              <a:ahLst/>
              <a:cxnLst/>
              <a:rect r="r" b="b" t="t" l="l"/>
              <a:pathLst>
                <a:path h="6400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8463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Python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63140" y="2880360"/>
            <a:ext cx="3634740" cy="347453"/>
            <a:chOff x="0" y="0"/>
            <a:chExt cx="4846320" cy="4632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846320" cy="463271"/>
            </a:xfrm>
            <a:custGeom>
              <a:avLst/>
              <a:gdLst/>
              <a:ahLst/>
              <a:cxnLst/>
              <a:rect r="r" b="b" t="t" l="l"/>
              <a:pathLst>
                <a:path h="463271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63271"/>
                  </a:lnTo>
                  <a:lnTo>
                    <a:pt x="0" y="46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90" r="0" b="-15317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846320" cy="4918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5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LENGUAJE DE PROGRAMACIÓN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65860" y="3528060"/>
            <a:ext cx="4594860" cy="57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Extracción, limpieza y transformación de datos con pandas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350508" y="2125980"/>
            <a:ext cx="5280660" cy="2948940"/>
            <a:chOff x="0" y="0"/>
            <a:chExt cx="7040880" cy="393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0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767328"/>
                  </a:lnTo>
                  <a:cubicBezTo>
                    <a:pt x="7040880" y="3858260"/>
                    <a:pt x="6967220" y="3931920"/>
                    <a:pt x="6876288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693408" y="2468880"/>
            <a:ext cx="891540" cy="891540"/>
            <a:chOff x="0" y="0"/>
            <a:chExt cx="1188720" cy="1188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912864" y="2688336"/>
            <a:ext cx="452628" cy="452628"/>
            <a:chOff x="0" y="0"/>
            <a:chExt cx="603504" cy="603504"/>
          </a:xfrm>
        </p:grpSpPr>
        <p:sp>
          <p:nvSpPr>
            <p:cNvPr name="Freeform 26" id="26" descr="/home/claude/icons/storage_white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790688" y="2427732"/>
            <a:ext cx="3634740" cy="480060"/>
            <a:chOff x="0" y="0"/>
            <a:chExt cx="484632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46320" cy="640080"/>
            </a:xfrm>
            <a:custGeom>
              <a:avLst/>
              <a:gdLst/>
              <a:ahLst/>
              <a:cxnLst/>
              <a:rect r="r" b="b" t="t" l="l"/>
              <a:pathLst>
                <a:path h="6400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8463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Cloud Storage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90688" y="2880360"/>
            <a:ext cx="3634740" cy="347453"/>
            <a:chOff x="0" y="0"/>
            <a:chExt cx="4846320" cy="4632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46320" cy="463271"/>
            </a:xfrm>
            <a:custGeom>
              <a:avLst/>
              <a:gdLst/>
              <a:ahLst/>
              <a:cxnLst/>
              <a:rect r="r" b="b" t="t" l="l"/>
              <a:pathLst>
                <a:path h="463271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63271"/>
                  </a:lnTo>
                  <a:lnTo>
                    <a:pt x="0" y="46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90" r="0" b="-15317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4846320" cy="4918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5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GOOGLE CLOUD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693408" y="3528060"/>
            <a:ext cx="4594860" cy="57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Almacenamiento del dataset crudo (CSV) como fuente del pipeline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878056" y="2125980"/>
            <a:ext cx="5280660" cy="2948940"/>
            <a:chOff x="0" y="0"/>
            <a:chExt cx="7040880" cy="3931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40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767328"/>
                  </a:lnTo>
                  <a:cubicBezTo>
                    <a:pt x="7040880" y="3858260"/>
                    <a:pt x="6967220" y="3931920"/>
                    <a:pt x="6876288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20956" y="2468880"/>
            <a:ext cx="891540" cy="891540"/>
            <a:chOff x="0" y="0"/>
            <a:chExt cx="1188720" cy="11887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440412" y="2688336"/>
            <a:ext cx="452628" cy="452628"/>
            <a:chOff x="0" y="0"/>
            <a:chExt cx="603504" cy="603504"/>
          </a:xfrm>
        </p:grpSpPr>
        <p:sp>
          <p:nvSpPr>
            <p:cNvPr name="Freeform 39" id="39" descr="/home/claude/icons/server_white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318236" y="2427732"/>
            <a:ext cx="3634740" cy="480060"/>
            <a:chOff x="0" y="0"/>
            <a:chExt cx="484632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846320" cy="640080"/>
            </a:xfrm>
            <a:custGeom>
              <a:avLst/>
              <a:gdLst/>
              <a:ahLst/>
              <a:cxnLst/>
              <a:rect r="r" b="b" t="t" l="l"/>
              <a:pathLst>
                <a:path h="6400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8463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Compute Engine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318236" y="2880360"/>
            <a:ext cx="3634740" cy="347453"/>
            <a:chOff x="0" y="0"/>
            <a:chExt cx="4846320" cy="4632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846320" cy="463271"/>
            </a:xfrm>
            <a:custGeom>
              <a:avLst/>
              <a:gdLst/>
              <a:ahLst/>
              <a:cxnLst/>
              <a:rect r="r" b="b" t="t" l="l"/>
              <a:pathLst>
                <a:path h="463271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63271"/>
                  </a:lnTo>
                  <a:lnTo>
                    <a:pt x="0" y="46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90" r="0" b="-15317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4846320" cy="4918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5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GOOGLE CLOUD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220956" y="3528060"/>
            <a:ext cx="4594860" cy="57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Máquina virtual (VM) donde corre la herramienta de orquestación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2960" y="5417820"/>
            <a:ext cx="5280660" cy="2948940"/>
            <a:chOff x="0" y="0"/>
            <a:chExt cx="7040880" cy="3931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040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767328"/>
                  </a:lnTo>
                  <a:cubicBezTo>
                    <a:pt x="7040880" y="3858260"/>
                    <a:pt x="6967220" y="3931920"/>
                    <a:pt x="6876288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5860" y="5760720"/>
            <a:ext cx="891540" cy="891540"/>
            <a:chOff x="0" y="0"/>
            <a:chExt cx="1188720" cy="1188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85316" y="5980176"/>
            <a:ext cx="452628" cy="452628"/>
            <a:chOff x="0" y="0"/>
            <a:chExt cx="603504" cy="603504"/>
          </a:xfrm>
        </p:grpSpPr>
        <p:sp>
          <p:nvSpPr>
            <p:cNvPr name="Freeform 52" id="52" descr="/home/claude/icons/cogs_white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263140" y="5719572"/>
            <a:ext cx="3634740" cy="480060"/>
            <a:chOff x="0" y="0"/>
            <a:chExt cx="484632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846320" cy="640080"/>
            </a:xfrm>
            <a:custGeom>
              <a:avLst/>
              <a:gdLst/>
              <a:ahLst/>
              <a:cxnLst/>
              <a:rect r="r" b="b" t="t" l="l"/>
              <a:pathLst>
                <a:path h="6400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8463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Mage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263140" y="6172200"/>
            <a:ext cx="3634740" cy="347453"/>
            <a:chOff x="0" y="0"/>
            <a:chExt cx="4846320" cy="4632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46320" cy="463271"/>
            </a:xfrm>
            <a:custGeom>
              <a:avLst/>
              <a:gdLst/>
              <a:ahLst/>
              <a:cxnLst/>
              <a:rect r="r" b="b" t="t" l="l"/>
              <a:pathLst>
                <a:path h="463271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63271"/>
                  </a:lnTo>
                  <a:lnTo>
                    <a:pt x="0" y="46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90" r="0" b="-15317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4846320" cy="4918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5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PIPELINE TOOL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165860" y="6819900"/>
            <a:ext cx="4594860" cy="57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Orquestación del ETL: bloques de extract, transform y load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350508" y="5417820"/>
            <a:ext cx="5280660" cy="2948940"/>
            <a:chOff x="0" y="0"/>
            <a:chExt cx="7040880" cy="39319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040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767328"/>
                  </a:lnTo>
                  <a:cubicBezTo>
                    <a:pt x="7040880" y="3858260"/>
                    <a:pt x="6967220" y="3931920"/>
                    <a:pt x="6876288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693408" y="5760720"/>
            <a:ext cx="891540" cy="891540"/>
            <a:chOff x="0" y="0"/>
            <a:chExt cx="1188720" cy="1188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912864" y="5980176"/>
            <a:ext cx="452628" cy="452628"/>
            <a:chOff x="0" y="0"/>
            <a:chExt cx="603504" cy="603504"/>
          </a:xfrm>
        </p:grpSpPr>
        <p:sp>
          <p:nvSpPr>
            <p:cNvPr name="Freeform 65" id="65" descr="/home/claude/icons/analytics_white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790688" y="5719572"/>
            <a:ext cx="3634740" cy="480060"/>
            <a:chOff x="0" y="0"/>
            <a:chExt cx="484632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846320" cy="640080"/>
            </a:xfrm>
            <a:custGeom>
              <a:avLst/>
              <a:gdLst/>
              <a:ahLst/>
              <a:cxnLst/>
              <a:rect r="r" b="b" t="t" l="l"/>
              <a:pathLst>
                <a:path h="6400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8463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BigQuery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790688" y="6172200"/>
            <a:ext cx="3634740" cy="347453"/>
            <a:chOff x="0" y="0"/>
            <a:chExt cx="4846320" cy="463271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846320" cy="463271"/>
            </a:xfrm>
            <a:custGeom>
              <a:avLst/>
              <a:gdLst/>
              <a:ahLst/>
              <a:cxnLst/>
              <a:rect r="r" b="b" t="t" l="l"/>
              <a:pathLst>
                <a:path h="463271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63271"/>
                  </a:lnTo>
                  <a:lnTo>
                    <a:pt x="0" y="46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90" r="0" b="-15317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4846320" cy="4918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5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GOOGLE CLOUD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6693408" y="6819900"/>
            <a:ext cx="4594860" cy="57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Data Warehouse serverless para el modelo dimensional y queries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1878056" y="5417820"/>
            <a:ext cx="5280660" cy="2948940"/>
            <a:chOff x="0" y="0"/>
            <a:chExt cx="7040880" cy="39319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0408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3767328"/>
                  </a:lnTo>
                  <a:cubicBezTo>
                    <a:pt x="7040880" y="3858260"/>
                    <a:pt x="6967220" y="3931920"/>
                    <a:pt x="6876288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220956" y="5760720"/>
            <a:ext cx="891540" cy="891540"/>
            <a:chOff x="0" y="0"/>
            <a:chExt cx="1188720" cy="11887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440412" y="5980176"/>
            <a:ext cx="452628" cy="452628"/>
            <a:chOff x="0" y="0"/>
            <a:chExt cx="603504" cy="603504"/>
          </a:xfrm>
        </p:grpSpPr>
        <p:sp>
          <p:nvSpPr>
            <p:cNvPr name="Freeform 78" id="78" descr="/home/claude/icons/dashboard_white.png"/>
            <p:cNvSpPr/>
            <p:nvPr/>
          </p:nvSpPr>
          <p:spPr>
            <a:xfrm flipH="false" flipV="false" rot="0">
              <a:off x="0" y="0"/>
              <a:ext cx="603504" cy="603504"/>
            </a:xfrm>
            <a:custGeom>
              <a:avLst/>
              <a:gdLst/>
              <a:ahLst/>
              <a:cxnLst/>
              <a:rect r="r" b="b" t="t" l="l"/>
              <a:pathLst>
                <a:path h="603504" w="603504">
                  <a:moveTo>
                    <a:pt x="0" y="0"/>
                  </a:moveTo>
                  <a:lnTo>
                    <a:pt x="603504" y="0"/>
                  </a:lnTo>
                  <a:lnTo>
                    <a:pt x="603504" y="603504"/>
                  </a:lnTo>
                  <a:lnTo>
                    <a:pt x="0" y="603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318236" y="5719572"/>
            <a:ext cx="3634740" cy="480060"/>
            <a:chOff x="0" y="0"/>
            <a:chExt cx="4846320" cy="6400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846320" cy="640080"/>
            </a:xfrm>
            <a:custGeom>
              <a:avLst/>
              <a:gdLst/>
              <a:ahLst/>
              <a:cxnLst/>
              <a:rect r="r" b="b" t="t" l="l"/>
              <a:pathLst>
                <a:path h="64008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29" r="0" b="-9752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48463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Looker Studio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318236" y="6172200"/>
            <a:ext cx="3634740" cy="347453"/>
            <a:chOff x="0" y="0"/>
            <a:chExt cx="4846320" cy="463271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846320" cy="463271"/>
            </a:xfrm>
            <a:custGeom>
              <a:avLst/>
              <a:gdLst/>
              <a:ahLst/>
              <a:cxnLst/>
              <a:rect r="r" b="b" t="t" l="l"/>
              <a:pathLst>
                <a:path h="463271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463271"/>
                  </a:lnTo>
                  <a:lnTo>
                    <a:pt x="0" y="4632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490" r="0" b="-153179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4846320" cy="4918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5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GOOGLE CLOUD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2220956" y="6819900"/>
            <a:ext cx="4594860" cy="57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7"/>
              </a:lnSpc>
            </a:pPr>
            <a:r>
              <a:rPr lang="en-US" sz="16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Visualización y dashboards interactivos para negocio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822960" y="9779508"/>
            <a:ext cx="10972800" cy="411480"/>
            <a:chOff x="0" y="0"/>
            <a:chExt cx="1463040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Uber Data Analytics · GCP Data Engineering Project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7282160" y="9779508"/>
            <a:ext cx="548640" cy="411480"/>
            <a:chOff x="0" y="0"/>
            <a:chExt cx="73152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38912"/>
            <a:ext cx="10972800" cy="440893"/>
            <a:chOff x="0" y="0"/>
            <a:chExt cx="14630400" cy="587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7858"/>
            </a:xfrm>
            <a:custGeom>
              <a:avLst/>
              <a:gdLst/>
              <a:ahLst/>
              <a:cxnLst/>
              <a:rect r="r" b="b" t="t" l="l"/>
              <a:pathLst>
                <a:path h="58785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272" r="0" b="-431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PROCESO ETL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22960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Cómo funciona el pipeline en Mage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5280660" cy="5897880"/>
            <a:chOff x="0" y="0"/>
            <a:chExt cx="7040880" cy="7863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7863840"/>
            </a:xfrm>
            <a:custGeom>
              <a:avLst/>
              <a:gdLst/>
              <a:ahLst/>
              <a:cxnLst/>
              <a:rect r="r" b="b" t="t" l="l"/>
              <a:pathLst>
                <a:path h="786384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7699248"/>
                  </a:lnTo>
                  <a:cubicBezTo>
                    <a:pt x="7040880" y="7790180"/>
                    <a:pt x="6967220" y="7863840"/>
                    <a:pt x="6876288" y="7863840"/>
                  </a:cubicBezTo>
                  <a:lnTo>
                    <a:pt x="164592" y="7863840"/>
                  </a:lnTo>
                  <a:cubicBezTo>
                    <a:pt x="73660" y="7863840"/>
                    <a:pt x="0" y="7790180"/>
                    <a:pt x="0" y="769924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578608"/>
            <a:ext cx="4457700" cy="411480"/>
            <a:chOff x="0" y="0"/>
            <a:chExt cx="59436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 · EXTRACT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34440" y="3086100"/>
            <a:ext cx="891540" cy="891540"/>
            <a:chOff x="0" y="0"/>
            <a:chExt cx="1188720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60754" y="3312414"/>
            <a:ext cx="438912" cy="438912"/>
            <a:chOff x="0" y="0"/>
            <a:chExt cx="585216" cy="585216"/>
          </a:xfrm>
        </p:grpSpPr>
        <p:sp>
          <p:nvSpPr>
            <p:cNvPr name="Freeform 16" id="16" descr="/home/claude/icons/upload_whit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" y="4183380"/>
            <a:ext cx="4457700" cy="548640"/>
            <a:chOff x="0" y="0"/>
            <a:chExt cx="5943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94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extract.py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34440" y="4751832"/>
            <a:ext cx="44577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Descarga el CSV de viajes desde Cloud Storage vía HTTP y lo carga como DataFrame de pandas.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34440" y="6926580"/>
            <a:ext cx="4457700" cy="822960"/>
            <a:chOff x="0" y="0"/>
            <a:chExt cx="594360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4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43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833872" y="0"/>
                  </a:lnTo>
                  <a:cubicBezTo>
                    <a:pt x="5894451" y="0"/>
                    <a:pt x="5943600" y="49149"/>
                    <a:pt x="5943600" y="109728"/>
                  </a:cubicBezTo>
                  <a:lnTo>
                    <a:pt x="5943600" y="987552"/>
                  </a:lnTo>
                  <a:cubicBezTo>
                    <a:pt x="5943600" y="1048131"/>
                    <a:pt x="5894451" y="1097280"/>
                    <a:pt x="583387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16335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99032" y="6926580"/>
            <a:ext cx="4128516" cy="822960"/>
            <a:chOff x="0" y="0"/>
            <a:chExt cx="5504688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046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49" r="0" b="-4774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50468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8FE3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pd.read_csv(io.StringIO(response.text))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131052" y="4992624"/>
            <a:ext cx="192024" cy="301752"/>
            <a:chOff x="0" y="0"/>
            <a:chExt cx="256032" cy="402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032" cy="402336"/>
            </a:xfrm>
            <a:custGeom>
              <a:avLst/>
              <a:gdLst/>
              <a:ahLst/>
              <a:cxnLst/>
              <a:rect r="r" b="b" t="t" l="l"/>
              <a:pathLst>
                <a:path h="402336" w="256032">
                  <a:moveTo>
                    <a:pt x="0" y="100584"/>
                  </a:moveTo>
                  <a:lnTo>
                    <a:pt x="128016" y="100584"/>
                  </a:lnTo>
                  <a:lnTo>
                    <a:pt x="128016" y="0"/>
                  </a:lnTo>
                  <a:lnTo>
                    <a:pt x="256032" y="201168"/>
                  </a:lnTo>
                  <a:lnTo>
                    <a:pt x="128016" y="402336"/>
                  </a:lnTo>
                  <a:lnTo>
                    <a:pt x="128016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350508" y="2194560"/>
            <a:ext cx="5280660" cy="5897880"/>
            <a:chOff x="0" y="0"/>
            <a:chExt cx="7040880" cy="7863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40880" cy="7863840"/>
            </a:xfrm>
            <a:custGeom>
              <a:avLst/>
              <a:gdLst/>
              <a:ahLst/>
              <a:cxnLst/>
              <a:rect r="r" b="b" t="t" l="l"/>
              <a:pathLst>
                <a:path h="786384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7699248"/>
                  </a:lnTo>
                  <a:cubicBezTo>
                    <a:pt x="7040880" y="7790180"/>
                    <a:pt x="6967220" y="7863840"/>
                    <a:pt x="6876288" y="7863840"/>
                  </a:cubicBezTo>
                  <a:lnTo>
                    <a:pt x="164592" y="7863840"/>
                  </a:lnTo>
                  <a:cubicBezTo>
                    <a:pt x="73660" y="7863840"/>
                    <a:pt x="0" y="7790180"/>
                    <a:pt x="0" y="769924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761988" y="2578608"/>
            <a:ext cx="4457700" cy="411480"/>
            <a:chOff x="0" y="0"/>
            <a:chExt cx="59436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 · TRANSFORM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61988" y="3086100"/>
            <a:ext cx="891540" cy="891540"/>
            <a:chOff x="0" y="0"/>
            <a:chExt cx="1188720" cy="11887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988302" y="3312414"/>
            <a:ext cx="438912" cy="438912"/>
            <a:chOff x="0" y="0"/>
            <a:chExt cx="585216" cy="585216"/>
          </a:xfrm>
        </p:grpSpPr>
        <p:sp>
          <p:nvSpPr>
            <p:cNvPr name="Freeform 36" id="36" descr="/home/claude/icons/cogs_whit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761988" y="4183380"/>
            <a:ext cx="4457700" cy="548640"/>
            <a:chOff x="0" y="0"/>
            <a:chExt cx="594360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94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transform.py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6761988" y="4751832"/>
            <a:ext cx="4457700" cy="1379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Separa los datos en dimensiones (fecha, ubicación, tarifa, pago, pasajeros, distancia) y construye la tabla de hechos vía merges.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761988" y="6926580"/>
            <a:ext cx="4457700" cy="822960"/>
            <a:chOff x="0" y="0"/>
            <a:chExt cx="594360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4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43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833872" y="0"/>
                  </a:lnTo>
                  <a:cubicBezTo>
                    <a:pt x="5894451" y="0"/>
                    <a:pt x="5943600" y="49149"/>
                    <a:pt x="5943600" y="109728"/>
                  </a:cubicBezTo>
                  <a:lnTo>
                    <a:pt x="5943600" y="987552"/>
                  </a:lnTo>
                  <a:cubicBezTo>
                    <a:pt x="5943600" y="1048131"/>
                    <a:pt x="5894451" y="1097280"/>
                    <a:pt x="583387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16335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926580" y="6926580"/>
            <a:ext cx="4128516" cy="822960"/>
            <a:chOff x="0" y="0"/>
            <a:chExt cx="5504688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046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49" r="0" b="-4774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50468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8FE3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datetime_dim, payment_type_dim, rate_code_dim...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658600" y="4992624"/>
            <a:ext cx="192024" cy="301752"/>
            <a:chOff x="0" y="0"/>
            <a:chExt cx="256032" cy="4023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6032" cy="402336"/>
            </a:xfrm>
            <a:custGeom>
              <a:avLst/>
              <a:gdLst/>
              <a:ahLst/>
              <a:cxnLst/>
              <a:rect r="r" b="b" t="t" l="l"/>
              <a:pathLst>
                <a:path h="402336" w="256032">
                  <a:moveTo>
                    <a:pt x="0" y="100584"/>
                  </a:moveTo>
                  <a:lnTo>
                    <a:pt x="128016" y="100584"/>
                  </a:lnTo>
                  <a:lnTo>
                    <a:pt x="128016" y="0"/>
                  </a:lnTo>
                  <a:lnTo>
                    <a:pt x="256032" y="201168"/>
                  </a:lnTo>
                  <a:lnTo>
                    <a:pt x="128016" y="402336"/>
                  </a:lnTo>
                  <a:lnTo>
                    <a:pt x="128016" y="301752"/>
                  </a:lnTo>
                  <a:lnTo>
                    <a:pt x="0" y="301752"/>
                  </a:ln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878056" y="2194560"/>
            <a:ext cx="5280660" cy="5897880"/>
            <a:chOff x="0" y="0"/>
            <a:chExt cx="7040880" cy="7863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40880" cy="7863840"/>
            </a:xfrm>
            <a:custGeom>
              <a:avLst/>
              <a:gdLst/>
              <a:ahLst/>
              <a:cxnLst/>
              <a:rect r="r" b="b" t="t" l="l"/>
              <a:pathLst>
                <a:path h="7863840" w="70408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876288" y="0"/>
                  </a:lnTo>
                  <a:cubicBezTo>
                    <a:pt x="6967220" y="0"/>
                    <a:pt x="7040880" y="73660"/>
                    <a:pt x="7040880" y="164592"/>
                  </a:cubicBezTo>
                  <a:lnTo>
                    <a:pt x="7040880" y="7699248"/>
                  </a:lnTo>
                  <a:cubicBezTo>
                    <a:pt x="7040880" y="7790180"/>
                    <a:pt x="6967220" y="7863840"/>
                    <a:pt x="6876288" y="7863840"/>
                  </a:cubicBezTo>
                  <a:lnTo>
                    <a:pt x="164592" y="7863840"/>
                  </a:lnTo>
                  <a:cubicBezTo>
                    <a:pt x="73660" y="7863840"/>
                    <a:pt x="0" y="7790180"/>
                    <a:pt x="0" y="7699248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289536" y="2578608"/>
            <a:ext cx="4457700" cy="411480"/>
            <a:chOff x="0" y="0"/>
            <a:chExt cx="59436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94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59436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 · LOAD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289536" y="3086100"/>
            <a:ext cx="891540" cy="891540"/>
            <a:chOff x="0" y="0"/>
            <a:chExt cx="1188720" cy="11887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515850" y="3312414"/>
            <a:ext cx="438912" cy="438912"/>
            <a:chOff x="0" y="0"/>
            <a:chExt cx="585216" cy="585216"/>
          </a:xfrm>
        </p:grpSpPr>
        <p:sp>
          <p:nvSpPr>
            <p:cNvPr name="Freeform 56" id="56" descr="/home/claude/icons/db_whit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289536" y="4183380"/>
            <a:ext cx="4457700" cy="548640"/>
            <a:chOff x="0" y="0"/>
            <a:chExt cx="594360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943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load.py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2289536" y="4751832"/>
            <a:ext cx="44577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Exporta cada tabla (hechos + 7 dimensiones) a BigQuery, reemplazando las tablas existentes.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2289536" y="6926580"/>
            <a:ext cx="4457700" cy="822960"/>
            <a:chOff x="0" y="0"/>
            <a:chExt cx="594360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943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94360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5833872" y="0"/>
                  </a:lnTo>
                  <a:cubicBezTo>
                    <a:pt x="5894451" y="0"/>
                    <a:pt x="5943600" y="49149"/>
                    <a:pt x="5943600" y="109728"/>
                  </a:cubicBezTo>
                  <a:lnTo>
                    <a:pt x="5943600" y="987552"/>
                  </a:lnTo>
                  <a:cubicBezTo>
                    <a:pt x="5943600" y="1048131"/>
                    <a:pt x="5894451" y="1097280"/>
                    <a:pt x="5833872" y="1097280"/>
                  </a:cubicBezTo>
                  <a:lnTo>
                    <a:pt x="109728" y="1097280"/>
                  </a:lnTo>
                  <a:cubicBezTo>
                    <a:pt x="49149" y="1097280"/>
                    <a:pt x="0" y="1048131"/>
                    <a:pt x="0" y="987552"/>
                  </a:cubicBezTo>
                  <a:close/>
                </a:path>
              </a:pathLst>
            </a:custGeom>
            <a:solidFill>
              <a:srgbClr val="16335C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454128" y="6926580"/>
            <a:ext cx="4128516" cy="822960"/>
            <a:chOff x="0" y="0"/>
            <a:chExt cx="5504688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504688" cy="1097280"/>
            </a:xfrm>
            <a:custGeom>
              <a:avLst/>
              <a:gdLst/>
              <a:ahLst/>
              <a:cxnLst/>
              <a:rect r="r" b="b" t="t" l="l"/>
              <a:pathLst>
                <a:path h="1097280" w="5504688">
                  <a:moveTo>
                    <a:pt x="0" y="0"/>
                  </a:moveTo>
                  <a:lnTo>
                    <a:pt x="5504688" y="0"/>
                  </a:lnTo>
                  <a:lnTo>
                    <a:pt x="5504688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49" r="0" b="-4774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5504688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8FE3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BigQuery.export(df, table_id, if_exists='replace')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22960" y="9779508"/>
            <a:ext cx="10972800" cy="411480"/>
            <a:chOff x="0" y="0"/>
            <a:chExt cx="146304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Uber Data Analytics · GCP Data Engineering Project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7282160" y="9779508"/>
            <a:ext cx="548640" cy="411480"/>
            <a:chOff x="0" y="0"/>
            <a:chExt cx="73152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38912"/>
            <a:ext cx="10972800" cy="440893"/>
            <a:chOff x="0" y="0"/>
            <a:chExt cx="14630400" cy="587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7858"/>
            </a:xfrm>
            <a:custGeom>
              <a:avLst/>
              <a:gdLst/>
              <a:ahLst/>
              <a:cxnLst/>
              <a:rect r="r" b="b" t="t" l="l"/>
              <a:pathLst>
                <a:path h="58785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272" r="0" b="-431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MODELADO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22960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Modelo de datos: esquema estrella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2960" y="1990725"/>
            <a:ext cx="5692140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La tabla de hechos centraliza las métricas de cada viaje (tarifa, propina, peajes) y se conecta a siete dimensiones que describen el contexto: cuándo, dónde, cuántos pasajeros y cómo se pagó.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1540" y="3963924"/>
            <a:ext cx="164592" cy="164592"/>
            <a:chOff x="0" y="0"/>
            <a:chExt cx="219456" cy="2194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07008" y="3780282"/>
            <a:ext cx="541782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datetime_dim  </a:t>
            </a:r>
            <a:r>
              <a:rPr lang="en-US" sz="150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Fechas/horas de pickup y dropoff, hora, día, mes, año, día de semana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1540" y="4567428"/>
            <a:ext cx="164592" cy="164592"/>
            <a:chOff x="0" y="0"/>
            <a:chExt cx="219456" cy="2194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7008" y="4393311"/>
            <a:ext cx="54178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passenger_count_dim  </a:t>
            </a:r>
            <a:r>
              <a:rPr lang="en-US" sz="16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Cantidad de pasajeros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1540" y="5170932"/>
            <a:ext cx="164592" cy="164592"/>
            <a:chOff x="0" y="0"/>
            <a:chExt cx="219456" cy="2194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07008" y="4996815"/>
            <a:ext cx="541782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trip_distance_dim  </a:t>
            </a:r>
            <a:r>
              <a:rPr lang="en-US" sz="165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Distancia del viaje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91540" y="5774436"/>
            <a:ext cx="164592" cy="164592"/>
            <a:chOff x="0" y="0"/>
            <a:chExt cx="219456" cy="2194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7008" y="5590794"/>
            <a:ext cx="54178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rate_code_dim  </a:t>
            </a:r>
            <a:r>
              <a:rPr lang="en-US" sz="150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Tipo de tarifa (estándar, JFK, Newark...)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91540" y="6377940"/>
            <a:ext cx="164592" cy="164592"/>
            <a:chOff x="0" y="0"/>
            <a:chExt cx="219456" cy="2194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07008" y="6194298"/>
            <a:ext cx="54178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pickup_location_dim  </a:t>
            </a:r>
            <a:r>
              <a:rPr lang="en-US" sz="150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Latitud/longitud de recogida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1540" y="6981444"/>
            <a:ext cx="164592" cy="164592"/>
            <a:chOff x="0" y="0"/>
            <a:chExt cx="219456" cy="2194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07008" y="6797802"/>
            <a:ext cx="54178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dropoff_location_dim  </a:t>
            </a:r>
            <a:r>
              <a:rPr lang="en-US" sz="150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Latitud/longitud de destino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91540" y="7584948"/>
            <a:ext cx="164592" cy="164592"/>
            <a:chOff x="0" y="0"/>
            <a:chExt cx="219456" cy="2194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07008" y="7401306"/>
            <a:ext cx="541782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0B1F3A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payment_type_dim  </a:t>
            </a:r>
            <a:r>
              <a:rPr lang="en-US" sz="1500">
                <a:solidFill>
                  <a:srgbClr val="5B6B85"/>
                </a:solidFill>
                <a:latin typeface="Poppins"/>
                <a:ea typeface="Poppins"/>
                <a:cs typeface="Poppins"/>
                <a:sym typeface="Poppins"/>
              </a:rPr>
              <a:t>Tipo de pago (tarjeta, efectivo...)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779895" y="2047875"/>
            <a:ext cx="10648950" cy="7357110"/>
            <a:chOff x="0" y="0"/>
            <a:chExt cx="14198600" cy="98094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198600" cy="9809480"/>
            </a:xfrm>
            <a:custGeom>
              <a:avLst/>
              <a:gdLst/>
              <a:ahLst/>
              <a:cxnLst/>
              <a:rect r="r" b="b" t="t" l="l"/>
              <a:pathLst>
                <a:path h="9809480" w="1419860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4051914" y="0"/>
                  </a:lnTo>
                  <a:cubicBezTo>
                    <a:pt x="14132940" y="0"/>
                    <a:pt x="14198600" y="65659"/>
                    <a:pt x="14198600" y="146685"/>
                  </a:cubicBezTo>
                  <a:lnTo>
                    <a:pt x="14198600" y="9662795"/>
                  </a:lnTo>
                  <a:cubicBezTo>
                    <a:pt x="14198600" y="9743821"/>
                    <a:pt x="14132940" y="9809480"/>
                    <a:pt x="14051914" y="9809480"/>
                  </a:cubicBezTo>
                  <a:lnTo>
                    <a:pt x="146685" y="9809480"/>
                  </a:lnTo>
                  <a:cubicBezTo>
                    <a:pt x="65659" y="9809480"/>
                    <a:pt x="0" y="9743821"/>
                    <a:pt x="0" y="9662795"/>
                  </a:cubicBezTo>
                  <a:close/>
                </a:path>
              </a:pathLst>
            </a:custGeom>
            <a:solidFill>
              <a:srgbClr val="F4F6FB"/>
            </a:solidFill>
            <a:ln w="19050" cap="sq">
              <a:solidFill>
                <a:srgbClr val="DDE3E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7063740" y="2263140"/>
            <a:ext cx="10081260" cy="6926580"/>
            <a:chOff x="0" y="0"/>
            <a:chExt cx="13441680" cy="9235440"/>
          </a:xfrm>
        </p:grpSpPr>
        <p:sp>
          <p:nvSpPr>
            <p:cNvPr name="Freeform 33" id="33" descr="/home/claude/project_extracted/uber-etl-pipeline-data-engineering-project-main/data_model.jpeg"/>
            <p:cNvSpPr/>
            <p:nvPr/>
          </p:nvSpPr>
          <p:spPr>
            <a:xfrm flipH="false" flipV="false" rot="0">
              <a:off x="0" y="0"/>
              <a:ext cx="13441680" cy="9235440"/>
            </a:xfrm>
            <a:custGeom>
              <a:avLst/>
              <a:gdLst/>
              <a:ahLst/>
              <a:cxnLst/>
              <a:rect r="r" b="b" t="t" l="l"/>
              <a:pathLst>
                <a:path h="9235440" w="13441680">
                  <a:moveTo>
                    <a:pt x="0" y="0"/>
                  </a:moveTo>
                  <a:lnTo>
                    <a:pt x="13441680" y="0"/>
                  </a:lnTo>
                  <a:lnTo>
                    <a:pt x="13441680" y="9235440"/>
                  </a:lnTo>
                  <a:lnTo>
                    <a:pt x="0" y="9235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69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779508"/>
            <a:ext cx="10972800" cy="411480"/>
            <a:chOff x="0" y="0"/>
            <a:chExt cx="146304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Uber Data Analytics · GCP Data Engineering Project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282160" y="9779508"/>
            <a:ext cx="548640" cy="411480"/>
            <a:chOff x="0" y="0"/>
            <a:chExt cx="73152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38912"/>
            <a:ext cx="10972800" cy="440893"/>
            <a:chOff x="0" y="0"/>
            <a:chExt cx="14630400" cy="587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87858"/>
            </a:xfrm>
            <a:custGeom>
              <a:avLst/>
              <a:gdLst/>
              <a:ahLst/>
              <a:cxnLst/>
              <a:rect r="r" b="b" t="t" l="l"/>
              <a:pathLst>
                <a:path h="58785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7858"/>
                  </a:lnTo>
                  <a:lnTo>
                    <a:pt x="0" y="5878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272" r="0" b="-431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630400" cy="606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CAPA ANALÍTICA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822960"/>
            <a:ext cx="16184880" cy="960120"/>
            <a:chOff x="0" y="0"/>
            <a:chExt cx="2157984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462" r="0" b="-27846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De BigQuery a Looker Studio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8229600" cy="7269480"/>
            <a:chOff x="0" y="0"/>
            <a:chExt cx="10972800" cy="969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9692640"/>
            </a:xfrm>
            <a:custGeom>
              <a:avLst/>
              <a:gdLst/>
              <a:ahLst/>
              <a:cxnLst/>
              <a:rect r="r" b="b" t="t" l="l"/>
              <a:pathLst>
                <a:path h="9692640" w="10972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826496" y="0"/>
                  </a:lnTo>
                  <a:cubicBezTo>
                    <a:pt x="10907268" y="0"/>
                    <a:pt x="10972800" y="65532"/>
                    <a:pt x="10972800" y="146304"/>
                  </a:cubicBezTo>
                  <a:lnTo>
                    <a:pt x="10972800" y="9546336"/>
                  </a:lnTo>
                  <a:cubicBezTo>
                    <a:pt x="10972800" y="9627108"/>
                    <a:pt x="10907268" y="9692640"/>
                    <a:pt x="10826496" y="9692640"/>
                  </a:cubicBezTo>
                  <a:lnTo>
                    <a:pt x="146304" y="9692640"/>
                  </a:lnTo>
                  <a:cubicBezTo>
                    <a:pt x="65532" y="9692640"/>
                    <a:pt x="0" y="9627108"/>
                    <a:pt x="0" y="9546336"/>
                  </a:cubicBezTo>
                  <a:close/>
                </a:path>
              </a:pathLst>
            </a:custGeom>
            <a:solidFill>
              <a:srgbClr val="0B1F3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468880"/>
            <a:ext cx="7269480" cy="411480"/>
            <a:chOff x="0" y="0"/>
            <a:chExt cx="969264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92640" cy="548640"/>
            </a:xfrm>
            <a:custGeom>
              <a:avLst/>
              <a:gdLst/>
              <a:ahLst/>
              <a:cxnLst/>
              <a:rect r="r" b="b" t="t" l="l"/>
              <a:pathLst>
                <a:path h="548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235" r="0" b="-2942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6926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TABLA DE ANALÍTICA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2880360"/>
            <a:ext cx="7269480" cy="596265"/>
            <a:chOff x="0" y="0"/>
            <a:chExt cx="9692640" cy="7950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795020"/>
            </a:xfrm>
            <a:custGeom>
              <a:avLst/>
              <a:gdLst/>
              <a:ahLst/>
              <a:cxnLst/>
              <a:rect r="r" b="b" t="t" l="l"/>
              <a:pathLst>
                <a:path h="79502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795020"/>
                  </a:lnTo>
                  <a:lnTo>
                    <a:pt x="0" y="7950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549" r="0" b="-18356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692640" cy="804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tbl_analytics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03020" y="3509010"/>
            <a:ext cx="7269480" cy="9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>
                <a:solidFill>
                  <a:srgbClr val="CADCFC"/>
                </a:solidFill>
                <a:latin typeface="Poppins"/>
                <a:ea typeface="Poppins"/>
                <a:cs typeface="Poppins"/>
                <a:sym typeface="Poppins"/>
              </a:rPr>
              <a:t>Una consulta SQL en BigQuery hace JOIN entre la tabla de hechos y las 7 dimensiones, generando una tabla desnormalizada y lista para consumo en herramientas de BI.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03020" y="4937760"/>
            <a:ext cx="7269480" cy="4046220"/>
            <a:chOff x="0" y="0"/>
            <a:chExt cx="9692640" cy="5394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92640" cy="5394960"/>
            </a:xfrm>
            <a:custGeom>
              <a:avLst/>
              <a:gdLst/>
              <a:ahLst/>
              <a:cxnLst/>
              <a:rect r="r" b="b" t="t" l="l"/>
              <a:pathLst>
                <a:path h="5394960" w="969264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9582912" y="0"/>
                  </a:lnTo>
                  <a:cubicBezTo>
                    <a:pt x="9643491" y="0"/>
                    <a:pt x="9692640" y="49149"/>
                    <a:pt x="9692640" y="109728"/>
                  </a:cubicBezTo>
                  <a:lnTo>
                    <a:pt x="9692640" y="5285232"/>
                  </a:lnTo>
                  <a:cubicBezTo>
                    <a:pt x="9692640" y="5345811"/>
                    <a:pt x="9643491" y="5394960"/>
                    <a:pt x="9582912" y="5394960"/>
                  </a:cubicBezTo>
                  <a:lnTo>
                    <a:pt x="109728" y="5394960"/>
                  </a:lnTo>
                  <a:cubicBezTo>
                    <a:pt x="49149" y="5394960"/>
                    <a:pt x="0" y="5345811"/>
                    <a:pt x="0" y="5285232"/>
                  </a:cubicBezTo>
                  <a:close/>
                </a:path>
              </a:pathLst>
            </a:custGeom>
            <a:solidFill>
              <a:srgbClr val="16335C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77340" y="5146548"/>
            <a:ext cx="6720840" cy="367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CREATE OR REPLACE TABLE tbl_analytics AS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SELECT f.trip_id, d.tpep_pickup_datetime,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       p.passenger_count, t.trip_distance,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       r.rate_code_name, pay.payment_type_name,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       f.fare_amount, f.tip_amount, f.total_amount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FROM fact_table f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JOIN datetime_dim d ON f.datetime_id = d.datetime_id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JOIN passenger_count_dim p ON ...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JOIN trip_distance_dim t ON ...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JOIN rate_code_dim r ON ...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JOIN pickup_location_dim pick ON ...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JOIN dropoff_location_dim drop ON ...</a:t>
            </a:r>
          </a:p>
          <a:p>
            <a:pPr algn="l">
              <a:lnSpc>
                <a:spcPts val="1966"/>
              </a:lnSpc>
            </a:pPr>
            <a:r>
              <a:rPr lang="en-US" sz="1425">
                <a:solidFill>
                  <a:srgbClr val="8FE3D8"/>
                </a:solidFill>
                <a:latin typeface="Courier New"/>
                <a:ea typeface="Courier New"/>
                <a:cs typeface="Courier New"/>
                <a:sym typeface="Courier New"/>
              </a:rPr>
              <a:t>JOIN payment_type_dim pay ON ...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32620" y="2125980"/>
            <a:ext cx="7475220" cy="7269480"/>
            <a:chOff x="0" y="0"/>
            <a:chExt cx="9966960" cy="9692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66961" cy="9692640"/>
            </a:xfrm>
            <a:custGeom>
              <a:avLst/>
              <a:gdLst/>
              <a:ahLst/>
              <a:cxnLst/>
              <a:rect r="r" b="b" t="t" l="l"/>
              <a:pathLst>
                <a:path h="9692640" w="99669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820656" y="0"/>
                  </a:lnTo>
                  <a:cubicBezTo>
                    <a:pt x="9901428" y="0"/>
                    <a:pt x="9966961" y="65532"/>
                    <a:pt x="9966961" y="146304"/>
                  </a:cubicBezTo>
                  <a:lnTo>
                    <a:pt x="9966961" y="9546336"/>
                  </a:lnTo>
                  <a:cubicBezTo>
                    <a:pt x="9966961" y="9627108"/>
                    <a:pt x="9901428" y="9692640"/>
                    <a:pt x="9820656" y="9692640"/>
                  </a:cubicBezTo>
                  <a:lnTo>
                    <a:pt x="146304" y="9692640"/>
                  </a:lnTo>
                  <a:cubicBezTo>
                    <a:pt x="65532" y="9692640"/>
                    <a:pt x="0" y="9627108"/>
                    <a:pt x="0" y="9546336"/>
                  </a:cubicBezTo>
                  <a:close/>
                </a:path>
              </a:pathLst>
            </a:custGeom>
            <a:solidFill>
              <a:srgbClr val="F4F6F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12680" y="2606040"/>
            <a:ext cx="960120" cy="960120"/>
            <a:chOff x="0" y="0"/>
            <a:chExt cx="128016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45852" y="2839212"/>
            <a:ext cx="493776" cy="493776"/>
            <a:chOff x="0" y="0"/>
            <a:chExt cx="658368" cy="658368"/>
          </a:xfrm>
        </p:grpSpPr>
        <p:sp>
          <p:nvSpPr>
            <p:cNvPr name="Freeform 25" id="25" descr="/home/claude/icons/dashboard_white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178540" y="2702052"/>
            <a:ext cx="5486400" cy="617220"/>
            <a:chOff x="0" y="0"/>
            <a:chExt cx="7315200" cy="822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822960"/>
            </a:xfrm>
            <a:custGeom>
              <a:avLst/>
              <a:gdLst/>
              <a:ahLst/>
              <a:cxnLst/>
              <a:rect r="r" b="b" t="t" l="l"/>
              <a:pathLst>
                <a:path h="8229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731520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B1F3A"/>
                  </a:solidFill>
                  <a:latin typeface="Intro Rust"/>
                  <a:ea typeface="Intro Rust"/>
                  <a:cs typeface="Intro Rust"/>
                  <a:sym typeface="Intro Rust"/>
                </a:rPr>
                <a:t>Looker Studio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012680" y="3752850"/>
            <a:ext cx="6446520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Volumen de viajes por hora, día y mes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Ingresos totales: tarifa, propinas y peajes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Distribución por tipo de tarifa y forma de pago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Mapas de calor de pickup / dropoff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0B1F3A"/>
                </a:solidFill>
                <a:latin typeface="Poppins"/>
                <a:ea typeface="Poppins"/>
                <a:cs typeface="Poppins"/>
                <a:sym typeface="Poppins"/>
              </a:rPr>
              <a:t>Promedio de pasajeros y distancia por viaje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012680" y="7338060"/>
            <a:ext cx="6446520" cy="1783080"/>
            <a:chOff x="0" y="0"/>
            <a:chExt cx="8595360" cy="2377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953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859536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467344" y="0"/>
                  </a:lnTo>
                  <a:cubicBezTo>
                    <a:pt x="8538083" y="0"/>
                    <a:pt x="8595360" y="57277"/>
                    <a:pt x="8595360" y="128016"/>
                  </a:cubicBezTo>
                  <a:lnTo>
                    <a:pt x="8595360" y="2249424"/>
                  </a:lnTo>
                  <a:cubicBezTo>
                    <a:pt x="8595360" y="2320163"/>
                    <a:pt x="8538083" y="2377440"/>
                    <a:pt x="8467344" y="2377440"/>
                  </a:cubicBezTo>
                  <a:lnTo>
                    <a:pt x="128016" y="2377440"/>
                  </a:lnTo>
                  <a:cubicBezTo>
                    <a:pt x="57277" y="2377440"/>
                    <a:pt x="0" y="2320163"/>
                    <a:pt x="0" y="2249424"/>
                  </a:cubicBezTo>
                  <a:close/>
                </a:path>
              </a:pathLst>
            </a:custGeom>
            <a:solidFill>
              <a:srgbClr val="E3F7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355580" y="7543800"/>
            <a:ext cx="5760720" cy="1371600"/>
            <a:chOff x="0" y="0"/>
            <a:chExt cx="768096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80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768096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0B1F3A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Resultado: el equipo de negocio consume dashboards interactivos sin tocar SQL ni preocuparse por la infraestructura subyacente.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9779508"/>
            <a:ext cx="10972800" cy="411480"/>
            <a:chOff x="0" y="0"/>
            <a:chExt cx="146304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Uber Data Analytics · GCP Data Engineering Project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282160" y="9779508"/>
            <a:ext cx="548640" cy="411480"/>
            <a:chOff x="0" y="0"/>
            <a:chExt cx="73152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315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85"/>
                  </a:solidFill>
                  <a:latin typeface="Poppins"/>
                  <a:ea typeface="Poppins"/>
                  <a:cs typeface="Poppins"/>
                  <a:sym typeface="Poppins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-205740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16335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960120"/>
            <a:ext cx="8229600" cy="483984"/>
            <a:chOff x="0" y="0"/>
            <a:chExt cx="10972800" cy="6453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45312"/>
            </a:xfrm>
            <a:custGeom>
              <a:avLst/>
              <a:gdLst/>
              <a:ahLst/>
              <a:cxnLst/>
              <a:rect r="r" b="b" t="t" l="l"/>
              <a:pathLst>
                <a:path h="64531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5312"/>
                  </a:lnTo>
                  <a:lnTo>
                    <a:pt x="0" y="645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726" r="0" b="-28091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0972800" cy="664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450">
                  <a:solidFill>
                    <a:srgbClr val="0E959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ESTADO ACTUAL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69848" y="1440180"/>
            <a:ext cx="13716000" cy="1097280"/>
            <a:chOff x="0" y="0"/>
            <a:chExt cx="1828800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Pipeline desplegado y operativo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97280" y="301752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82446" y="3202686"/>
            <a:ext cx="384048" cy="384048"/>
            <a:chOff x="0" y="0"/>
            <a:chExt cx="512064" cy="512064"/>
          </a:xfrm>
        </p:grpSpPr>
        <p:sp>
          <p:nvSpPr>
            <p:cNvPr name="Freeform 13" id="13" descr="/home/claude/icons/check_whit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25980" y="2962656"/>
            <a:ext cx="10972800" cy="480060"/>
            <a:chOff x="0" y="0"/>
            <a:chExt cx="1463040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Infraestructura activa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125980" y="3456432"/>
            <a:ext cx="11658600" cy="480060"/>
            <a:chOff x="0" y="0"/>
            <a:chExt cx="1554480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54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5544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Poppins"/>
                  <a:ea typeface="Poppins"/>
                  <a:cs typeface="Poppins"/>
                  <a:sym typeface="Poppins"/>
                </a:rPr>
                <a:t>Cloud Storage + Compute Engine con Mage corriendo en GCP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4457700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2446" y="4642866"/>
            <a:ext cx="384048" cy="384048"/>
            <a:chOff x="0" y="0"/>
            <a:chExt cx="512064" cy="512064"/>
          </a:xfrm>
        </p:grpSpPr>
        <p:sp>
          <p:nvSpPr>
            <p:cNvPr name="Freeform 23" id="23" descr="/home/claude/icons/check_whit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125980" y="4402836"/>
            <a:ext cx="10972800" cy="480060"/>
            <a:chOff x="0" y="0"/>
            <a:chExt cx="14630400" cy="6400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Datos modelados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25980" y="4896612"/>
            <a:ext cx="11658600" cy="480060"/>
            <a:chOff x="0" y="0"/>
            <a:chExt cx="1554480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54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5544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Poppins"/>
                  <a:ea typeface="Poppins"/>
                  <a:cs typeface="Poppins"/>
                  <a:sym typeface="Poppins"/>
                </a:rPr>
                <a:t>8 tablas (hechos + dimensiones) cargadas en BigQuery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97280" y="589788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E959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82446" y="6083046"/>
            <a:ext cx="384048" cy="384048"/>
            <a:chOff x="0" y="0"/>
            <a:chExt cx="512064" cy="512064"/>
          </a:xfrm>
        </p:grpSpPr>
        <p:sp>
          <p:nvSpPr>
            <p:cNvPr name="Freeform 33" id="33" descr="/home/claude/icons/check_white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25980" y="5843016"/>
            <a:ext cx="10972800" cy="480060"/>
            <a:chOff x="0" y="0"/>
            <a:chExt cx="1463040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Capa de analítica lista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25980" y="6336792"/>
            <a:ext cx="11658600" cy="480060"/>
            <a:chOff x="0" y="0"/>
            <a:chExt cx="1554480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54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208" r="0" b="-4232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5544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ADCFC"/>
                  </a:solidFill>
                  <a:latin typeface="Poppins"/>
                  <a:ea typeface="Poppins"/>
                  <a:cs typeface="Poppins"/>
                  <a:sym typeface="Poppins"/>
                </a:rPr>
                <a:t>tbl_analytics generada y disponible para consumo en BI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7280" y="8229600"/>
            <a:ext cx="12344400" cy="779259"/>
            <a:chOff x="0" y="0"/>
            <a:chExt cx="16459200" cy="10390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0" cy="1039012"/>
            </a:xfrm>
            <a:custGeom>
              <a:avLst/>
              <a:gdLst/>
              <a:ahLst/>
              <a:cxnLst/>
              <a:rect r="r" b="b" t="t" l="l"/>
              <a:pathLst>
                <a:path h="1039012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39012"/>
                  </a:lnTo>
                  <a:lnTo>
                    <a:pt x="0" y="10390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663" r="0" b="-2526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6459200" cy="10580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0E9594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Próximo paso sugerido: conectar Looker Studio a tbl_analytics y construir el dashboard de negocio.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304520" y="8983980"/>
            <a:ext cx="4114800" cy="685800"/>
            <a:chOff x="0" y="0"/>
            <a:chExt cx="5486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5486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Intro Rust"/>
                  <a:ea typeface="Intro Rust"/>
                  <a:cs typeface="Intro Rust"/>
                  <a:sym typeface="Intro Rust"/>
                </a:rPr>
                <a:t>Gracias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DAHNHvjTqTA</dc:identifier>
  <dcterms:modified xsi:type="dcterms:W3CDTF">2011-08-01T06:04:30Z</dcterms:modified>
  <cp:revision>1</cp:revision>
  <dc:title>uber_data_analytics_mejorada.pptx</dc:title>
</cp:coreProperties>
</file>